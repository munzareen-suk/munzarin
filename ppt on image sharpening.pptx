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anva Sans" panose="020B0604020202020204" charset="0"/>
      <p:regular r:id="rId13"/>
    </p:embeddedFont>
    <p:embeddedFont>
      <p:font typeface="Poppins" panose="020B0604020202020204" charset="0"/>
      <p:regular r:id="rId14"/>
    </p:embeddedFont>
    <p:embeddedFont>
      <p:font typeface="Anton" panose="020B0604020202020204" charset="0"/>
      <p:regular r:id="rId15"/>
    </p:embeddedFont>
    <p:embeddedFont>
      <p:font typeface="Calibri" panose="020F0502020204030204" pitchFamily="34" charset="0"/>
      <p:regular r:id="rId16"/>
      <p:bold r:id="rId17"/>
      <p:italic r:id="rId18"/>
      <p:boldItalic r:id="rId19"/>
    </p:embeddedFont>
    <p:embeddedFont>
      <p:font typeface="Canva Sans Bold" panose="020B0604020202020204" charset="0"/>
      <p:regular r:id="rId20"/>
    </p:embeddedFont>
    <p:embeddedFont>
      <p:font typeface="Poppins Bold" panose="020B0604020202020204" charset="0"/>
      <p:regular r:id="rId21"/>
    </p:embeddedFont>
    <p:embeddedFont>
      <p:font typeface="Arial Unicode MS" panose="020B0604020202020204" pitchFamily="34" charset="-128"/>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50" d="100"/>
          <a:sy n="50" d="100"/>
        </p:scale>
        <p:origin x="638" y="2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9.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matplotlib.org/stable/users/index.html" TargetMode="External"/><Relationship Id="rId5" Type="http://schemas.openxmlformats.org/officeDocument/2006/relationships/hyperlink" Target="https://pytorch.org/docs/stable/optim.html" TargetMode="External"/><Relationship Id="rId4" Type="http://schemas.openxmlformats.org/officeDocument/2006/relationships/hyperlink" Target="https://arxiv.org/abs/1503.02531"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340808">
                <a:alpha val="100000"/>
              </a:srgbClr>
            </a:gs>
            <a:gs pos="100000">
              <a:srgbClr val="10020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2200109" y="5308651"/>
            <a:ext cx="9970991" cy="997099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grpSp>
        <p:nvGrpSpPr>
          <p:cNvPr id="5" name="Group 5"/>
          <p:cNvGrpSpPr/>
          <p:nvPr/>
        </p:nvGrpSpPr>
        <p:grpSpPr>
          <a:xfrm>
            <a:off x="-1931365" y="-1995988"/>
            <a:ext cx="3086100" cy="308610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sp>
        <p:nvSpPr>
          <p:cNvPr id="8" name="Freeform 8"/>
          <p:cNvSpPr/>
          <p:nvPr/>
        </p:nvSpPr>
        <p:spPr>
          <a:xfrm>
            <a:off x="-1749769" y="7408383"/>
            <a:ext cx="2249352" cy="1231009"/>
          </a:xfrm>
          <a:custGeom>
            <a:avLst/>
            <a:gdLst/>
            <a:ahLst/>
            <a:cxnLst/>
            <a:rect l="l" t="t" r="r" b="b"/>
            <a:pathLst>
              <a:path w="2249352" h="1231009">
                <a:moveTo>
                  <a:pt x="0" y="0"/>
                </a:moveTo>
                <a:lnTo>
                  <a:pt x="2249351" y="0"/>
                </a:lnTo>
                <a:lnTo>
                  <a:pt x="2249351" y="1231009"/>
                </a:lnTo>
                <a:lnTo>
                  <a:pt x="0" y="123100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9" name="Freeform 9"/>
          <p:cNvSpPr/>
          <p:nvPr/>
        </p:nvSpPr>
        <p:spPr>
          <a:xfrm>
            <a:off x="8949738" y="7999921"/>
            <a:ext cx="8309562" cy="1641138"/>
          </a:xfrm>
          <a:custGeom>
            <a:avLst/>
            <a:gdLst/>
            <a:ahLst/>
            <a:cxnLst/>
            <a:rect l="l" t="t" r="r" b="b"/>
            <a:pathLst>
              <a:path w="8309562" h="1641138">
                <a:moveTo>
                  <a:pt x="0" y="0"/>
                </a:moveTo>
                <a:lnTo>
                  <a:pt x="8309562" y="0"/>
                </a:lnTo>
                <a:lnTo>
                  <a:pt x="8309562" y="1641139"/>
                </a:lnTo>
                <a:lnTo>
                  <a:pt x="0" y="1641139"/>
                </a:lnTo>
                <a:lnTo>
                  <a:pt x="0" y="0"/>
                </a:lnTo>
                <a:close/>
              </a:path>
            </a:pathLst>
          </a:custGeom>
          <a:blipFill>
            <a:blip r:embed="rId4"/>
            <a:stretch>
              <a:fillRect/>
            </a:stretch>
          </a:blipFill>
        </p:spPr>
      </p:sp>
      <p:sp>
        <p:nvSpPr>
          <p:cNvPr id="11" name="Freeform 11"/>
          <p:cNvSpPr/>
          <p:nvPr/>
        </p:nvSpPr>
        <p:spPr>
          <a:xfrm>
            <a:off x="16532519" y="3386974"/>
            <a:ext cx="2249352" cy="1231009"/>
          </a:xfrm>
          <a:custGeom>
            <a:avLst/>
            <a:gdLst/>
            <a:ahLst/>
            <a:cxnLst/>
            <a:rect l="l" t="t" r="r" b="b"/>
            <a:pathLst>
              <a:path w="2249352" h="1231009">
                <a:moveTo>
                  <a:pt x="0" y="0"/>
                </a:moveTo>
                <a:lnTo>
                  <a:pt x="2249351" y="0"/>
                </a:lnTo>
                <a:lnTo>
                  <a:pt x="2249351" y="1231009"/>
                </a:lnTo>
                <a:lnTo>
                  <a:pt x="0" y="123100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2" name="Freeform 12"/>
          <p:cNvSpPr/>
          <p:nvPr/>
        </p:nvSpPr>
        <p:spPr>
          <a:xfrm>
            <a:off x="0" y="0"/>
            <a:ext cx="18288000" cy="2679250"/>
          </a:xfrm>
          <a:custGeom>
            <a:avLst/>
            <a:gdLst/>
            <a:ahLst/>
            <a:cxnLst/>
            <a:rect l="l" t="t" r="r" b="b"/>
            <a:pathLst>
              <a:path w="18288000" h="2679250">
                <a:moveTo>
                  <a:pt x="0" y="0"/>
                </a:moveTo>
                <a:lnTo>
                  <a:pt x="18288000" y="0"/>
                </a:lnTo>
                <a:lnTo>
                  <a:pt x="18288000" y="2679250"/>
                </a:lnTo>
                <a:lnTo>
                  <a:pt x="0" y="2679250"/>
                </a:lnTo>
                <a:lnTo>
                  <a:pt x="0" y="0"/>
                </a:lnTo>
                <a:close/>
              </a:path>
            </a:pathLst>
          </a:custGeom>
          <a:blipFill>
            <a:blip r:embed="rId5"/>
            <a:stretch>
              <a:fillRect l="-1310" r="-1310" b="-3318"/>
            </a:stretch>
          </a:blipFill>
        </p:spPr>
      </p:sp>
      <p:sp>
        <p:nvSpPr>
          <p:cNvPr id="13" name="TextBox 13"/>
          <p:cNvSpPr txBox="1"/>
          <p:nvPr/>
        </p:nvSpPr>
        <p:spPr>
          <a:xfrm>
            <a:off x="343030" y="3184075"/>
            <a:ext cx="14973169" cy="1000274"/>
          </a:xfrm>
          <a:prstGeom prst="rect">
            <a:avLst/>
          </a:prstGeom>
        </p:spPr>
        <p:txBody>
          <a:bodyPr wrap="square" lIns="0" tIns="0" rIns="0" bIns="0" rtlCol="0" anchor="t">
            <a:spAutoFit/>
          </a:bodyPr>
          <a:lstStyle/>
          <a:p>
            <a:pPr marL="0" lvl="0" indent="0" algn="l">
              <a:lnSpc>
                <a:spcPts val="7788"/>
              </a:lnSpc>
            </a:pPr>
            <a:r>
              <a:rPr lang="en-US" sz="6000" dirty="0" smtClean="0">
                <a:solidFill>
                  <a:srgbClr val="FFB000"/>
                </a:solidFill>
                <a:latin typeface="Anton"/>
                <a:ea typeface="Anton"/>
                <a:cs typeface="Anton"/>
                <a:sym typeface="Anton"/>
              </a:rPr>
              <a:t>IMAGE SHARPENINGUSING</a:t>
            </a:r>
            <a:r>
              <a:rPr lang="en-US" sz="6000" dirty="0" smtClean="0">
                <a:solidFill>
                  <a:srgbClr val="FFB000"/>
                </a:solidFill>
                <a:latin typeface="Anton"/>
                <a:ea typeface="Anton"/>
                <a:cs typeface="Anton"/>
                <a:sym typeface="Anton"/>
              </a:rPr>
              <a:t> KNOWLEDGE DISTILLATION</a:t>
            </a:r>
            <a:endParaRPr lang="en-US" sz="6000" dirty="0">
              <a:solidFill>
                <a:srgbClr val="FFB000"/>
              </a:solidFill>
              <a:latin typeface="Anton"/>
              <a:ea typeface="Anton"/>
              <a:cs typeface="Anton"/>
              <a:sym typeface="Anton"/>
            </a:endParaRPr>
          </a:p>
        </p:txBody>
      </p:sp>
      <p:sp>
        <p:nvSpPr>
          <p:cNvPr id="14" name="TextBox 14"/>
          <p:cNvSpPr txBox="1"/>
          <p:nvPr/>
        </p:nvSpPr>
        <p:spPr>
          <a:xfrm>
            <a:off x="14185542" y="1122903"/>
            <a:ext cx="927891"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id="15" name="TextBox 15"/>
          <p:cNvSpPr txBox="1"/>
          <p:nvPr/>
        </p:nvSpPr>
        <p:spPr>
          <a:xfrm>
            <a:off x="15818061" y="1122903"/>
            <a:ext cx="1441239"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id="16" name="TextBox 16"/>
          <p:cNvSpPr txBox="1"/>
          <p:nvPr/>
        </p:nvSpPr>
        <p:spPr>
          <a:xfrm>
            <a:off x="602187" y="4926916"/>
            <a:ext cx="4789607" cy="730969"/>
          </a:xfrm>
          <a:prstGeom prst="rect">
            <a:avLst/>
          </a:prstGeom>
        </p:spPr>
        <p:txBody>
          <a:bodyPr wrap="square" lIns="0" tIns="0" rIns="0" bIns="0" rtlCol="0" anchor="t">
            <a:spAutoFit/>
          </a:bodyPr>
          <a:lstStyle/>
          <a:p>
            <a:pPr algn="ctr">
              <a:lnSpc>
                <a:spcPts val="5694"/>
              </a:lnSpc>
            </a:pPr>
            <a:r>
              <a:rPr lang="en-US" sz="4067" b="1">
                <a:solidFill>
                  <a:srgbClr val="F5B244"/>
                </a:solidFill>
                <a:latin typeface="Canva Sans Bold"/>
                <a:ea typeface="Canva Sans Bold"/>
                <a:cs typeface="Canva Sans Bold"/>
                <a:sym typeface="Canva Sans Bold"/>
              </a:rPr>
              <a:t>PRESENTED BY:</a:t>
            </a:r>
          </a:p>
        </p:txBody>
      </p:sp>
      <p:sp>
        <p:nvSpPr>
          <p:cNvPr id="17" name="TextBox 17"/>
          <p:cNvSpPr txBox="1"/>
          <p:nvPr/>
        </p:nvSpPr>
        <p:spPr>
          <a:xfrm>
            <a:off x="454297" y="5746280"/>
            <a:ext cx="8315434" cy="538609"/>
          </a:xfrm>
          <a:prstGeom prst="rect">
            <a:avLst/>
          </a:prstGeom>
        </p:spPr>
        <p:txBody>
          <a:bodyPr lIns="0" tIns="0" rIns="0" bIns="0" rtlCol="0" anchor="t">
            <a:spAutoFit/>
          </a:bodyPr>
          <a:lstStyle/>
          <a:p>
            <a:pPr algn="ctr">
              <a:lnSpc>
                <a:spcPts val="4200"/>
              </a:lnSpc>
            </a:pPr>
            <a:r>
              <a:rPr lang="en-US" sz="3000" dirty="0" smtClean="0">
                <a:solidFill>
                  <a:srgbClr val="FEDBB2"/>
                </a:solidFill>
                <a:latin typeface="Canva Sans"/>
                <a:ea typeface="Canva Sans"/>
                <a:cs typeface="Canva Sans"/>
                <a:sym typeface="Canva Sans"/>
              </a:rPr>
              <a:t>SUFIYA            </a:t>
            </a:r>
            <a:r>
              <a:rPr lang="en-US" sz="3000" dirty="0" smtClean="0">
                <a:solidFill>
                  <a:srgbClr val="FEDBB2"/>
                </a:solidFill>
                <a:latin typeface="Canva Sans"/>
                <a:ea typeface="Canva Sans"/>
                <a:cs typeface="Canva Sans"/>
                <a:sym typeface="Canva Sans"/>
              </a:rPr>
              <a:t>                   </a:t>
            </a:r>
            <a:r>
              <a:rPr lang="en-US" sz="3000" dirty="0">
                <a:solidFill>
                  <a:srgbClr val="FEDBB2"/>
                </a:solidFill>
                <a:latin typeface="Canva Sans"/>
                <a:ea typeface="Canva Sans"/>
                <a:cs typeface="Canva Sans"/>
                <a:sym typeface="Canva Sans"/>
              </a:rPr>
              <a:t>(SW22CSE069)</a:t>
            </a:r>
          </a:p>
        </p:txBody>
      </p:sp>
      <p:sp>
        <p:nvSpPr>
          <p:cNvPr id="18" name="TextBox 18"/>
          <p:cNvSpPr txBox="1"/>
          <p:nvPr/>
        </p:nvSpPr>
        <p:spPr>
          <a:xfrm>
            <a:off x="588483" y="6503092"/>
            <a:ext cx="8047062" cy="538609"/>
          </a:xfrm>
          <a:prstGeom prst="rect">
            <a:avLst/>
          </a:prstGeom>
        </p:spPr>
        <p:txBody>
          <a:bodyPr lIns="0" tIns="0" rIns="0" bIns="0" rtlCol="0" anchor="t">
            <a:spAutoFit/>
          </a:bodyPr>
          <a:lstStyle/>
          <a:p>
            <a:pPr algn="ctr">
              <a:lnSpc>
                <a:spcPts val="4200"/>
              </a:lnSpc>
            </a:pPr>
            <a:r>
              <a:rPr lang="en-US" sz="3000" dirty="0" smtClean="0">
                <a:solidFill>
                  <a:srgbClr val="FEDBB2"/>
                </a:solidFill>
                <a:latin typeface="Canva Sans"/>
                <a:ea typeface="Canva Sans"/>
                <a:cs typeface="Canva Sans"/>
                <a:sym typeface="Canva Sans"/>
              </a:rPr>
              <a:t>SUMAIYA</a:t>
            </a:r>
            <a:r>
              <a:rPr lang="en-US" sz="3000" dirty="0">
                <a:solidFill>
                  <a:srgbClr val="FEDBB2"/>
                </a:solidFill>
                <a:latin typeface="Canva Sans"/>
                <a:ea typeface="Canva Sans"/>
                <a:cs typeface="Canva Sans"/>
                <a:sym typeface="Canva Sans"/>
              </a:rPr>
              <a:t> </a:t>
            </a:r>
            <a:r>
              <a:rPr lang="en-US" sz="3000" dirty="0" smtClean="0">
                <a:solidFill>
                  <a:srgbClr val="FEDBB2"/>
                </a:solidFill>
                <a:latin typeface="Canva Sans"/>
                <a:ea typeface="Canva Sans"/>
                <a:cs typeface="Canva Sans"/>
                <a:sym typeface="Canva Sans"/>
              </a:rPr>
              <a:t>  SHAIKH         </a:t>
            </a:r>
            <a:r>
              <a:rPr lang="en-US" sz="3000" dirty="0">
                <a:solidFill>
                  <a:srgbClr val="FEDBB2"/>
                </a:solidFill>
                <a:latin typeface="Canva Sans"/>
                <a:ea typeface="Canva Sans"/>
                <a:cs typeface="Canva Sans"/>
                <a:sym typeface="Canva Sans"/>
              </a:rPr>
              <a:t>(SW22CSE083)</a:t>
            </a:r>
          </a:p>
        </p:txBody>
      </p:sp>
      <p:sp>
        <p:nvSpPr>
          <p:cNvPr id="20" name="TextBox 20"/>
          <p:cNvSpPr txBox="1"/>
          <p:nvPr/>
        </p:nvSpPr>
        <p:spPr>
          <a:xfrm>
            <a:off x="548469" y="7259904"/>
            <a:ext cx="8047062" cy="538609"/>
          </a:xfrm>
          <a:prstGeom prst="rect">
            <a:avLst/>
          </a:prstGeom>
        </p:spPr>
        <p:txBody>
          <a:bodyPr lIns="0" tIns="0" rIns="0" bIns="0" rtlCol="0" anchor="t">
            <a:spAutoFit/>
          </a:bodyPr>
          <a:lstStyle/>
          <a:p>
            <a:pPr algn="ctr">
              <a:lnSpc>
                <a:spcPts val="4200"/>
              </a:lnSpc>
            </a:pPr>
            <a:r>
              <a:rPr lang="en-US" sz="3000" dirty="0">
                <a:solidFill>
                  <a:srgbClr val="FEDBB2"/>
                </a:solidFill>
                <a:latin typeface="Canva Sans"/>
                <a:ea typeface="Canva Sans"/>
                <a:cs typeface="Canva Sans"/>
                <a:sym typeface="Canva Sans"/>
              </a:rPr>
              <a:t>SYEDA MUNZAREEN     </a:t>
            </a:r>
            <a:r>
              <a:rPr lang="en-US" sz="3000" dirty="0" smtClean="0">
                <a:solidFill>
                  <a:srgbClr val="FEDBB2"/>
                </a:solidFill>
                <a:latin typeface="Canva Sans"/>
                <a:ea typeface="Canva Sans"/>
                <a:cs typeface="Canva Sans"/>
                <a:sym typeface="Canva Sans"/>
              </a:rPr>
              <a:t> </a:t>
            </a:r>
            <a:r>
              <a:rPr lang="en-US" sz="3000" dirty="0">
                <a:solidFill>
                  <a:srgbClr val="FEDBB2"/>
                </a:solidFill>
                <a:latin typeface="Canva Sans"/>
                <a:ea typeface="Canva Sans"/>
                <a:cs typeface="Canva Sans"/>
                <a:sym typeface="Canva Sans"/>
              </a:rPr>
              <a:t>(SW22CSE107)</a:t>
            </a:r>
          </a:p>
        </p:txBody>
      </p:sp>
      <p:sp>
        <p:nvSpPr>
          <p:cNvPr id="21" name="TextBox 21"/>
          <p:cNvSpPr txBox="1"/>
          <p:nvPr/>
        </p:nvSpPr>
        <p:spPr>
          <a:xfrm>
            <a:off x="4287853" y="8868410"/>
            <a:ext cx="5038234" cy="615553"/>
          </a:xfrm>
          <a:prstGeom prst="rect">
            <a:avLst/>
          </a:prstGeom>
        </p:spPr>
        <p:txBody>
          <a:bodyPr wrap="square" lIns="0" tIns="0" rIns="0" bIns="0" rtlCol="0" anchor="t">
            <a:spAutoFit/>
          </a:bodyPr>
          <a:lstStyle/>
          <a:p>
            <a:pPr algn="ctr">
              <a:lnSpc>
                <a:spcPts val="4759"/>
              </a:lnSpc>
            </a:pPr>
            <a:r>
              <a:rPr lang="en-US" sz="3399" dirty="0" smtClean="0">
                <a:solidFill>
                  <a:srgbClr val="FEDBB2"/>
                </a:solidFill>
                <a:latin typeface="Canva Sans"/>
                <a:ea typeface="Canva Sans"/>
                <a:cs typeface="Canva Sans"/>
                <a:sym typeface="Canva Sans"/>
              </a:rPr>
              <a:t>Mentor</a:t>
            </a:r>
            <a:r>
              <a:rPr lang="en-US" sz="3399" dirty="0" smtClean="0">
                <a:solidFill>
                  <a:srgbClr val="FEDBB2"/>
                </a:solidFill>
                <a:latin typeface="Canva Sans"/>
                <a:ea typeface="Canva Sans"/>
                <a:cs typeface="Canva Sans"/>
                <a:sym typeface="Canva Sans"/>
              </a:rPr>
              <a:t>:</a:t>
            </a:r>
            <a:endParaRPr lang="en-US" sz="3399" dirty="0">
              <a:solidFill>
                <a:srgbClr val="FEDBB2"/>
              </a:solidFill>
              <a:latin typeface="Canva Sans"/>
              <a:ea typeface="Canva Sans"/>
              <a:cs typeface="Canva Sans"/>
              <a:sym typeface="Canva Sans"/>
            </a:endParaRPr>
          </a:p>
        </p:txBody>
      </p:sp>
      <p:sp>
        <p:nvSpPr>
          <p:cNvPr id="22" name="TextBox 22"/>
          <p:cNvSpPr txBox="1"/>
          <p:nvPr/>
        </p:nvSpPr>
        <p:spPr>
          <a:xfrm>
            <a:off x="4287854" y="9382125"/>
            <a:ext cx="5338274" cy="615553"/>
          </a:xfrm>
          <a:prstGeom prst="rect">
            <a:avLst/>
          </a:prstGeom>
        </p:spPr>
        <p:txBody>
          <a:bodyPr lIns="0" tIns="0" rIns="0" bIns="0" rtlCol="0" anchor="t">
            <a:spAutoFit/>
          </a:bodyPr>
          <a:lstStyle/>
          <a:p>
            <a:pPr algn="ctr">
              <a:lnSpc>
                <a:spcPts val="4759"/>
              </a:lnSpc>
            </a:pPr>
            <a:r>
              <a:rPr lang="en-US" sz="3399" dirty="0" err="1" smtClean="0">
                <a:solidFill>
                  <a:srgbClr val="F5B244"/>
                </a:solidFill>
                <a:latin typeface="Canva Sans"/>
                <a:ea typeface="Canva Sans"/>
                <a:cs typeface="Canva Sans"/>
                <a:sym typeface="Canva Sans"/>
              </a:rPr>
              <a:t>Dr.Shivleela</a:t>
            </a:r>
            <a:r>
              <a:rPr lang="en-US" sz="3399" dirty="0" smtClean="0">
                <a:solidFill>
                  <a:srgbClr val="F5B244"/>
                </a:solidFill>
                <a:latin typeface="Canva Sans"/>
                <a:ea typeface="Canva Sans"/>
                <a:cs typeface="Canva Sans"/>
                <a:sym typeface="Canva Sans"/>
              </a:rPr>
              <a:t> </a:t>
            </a:r>
            <a:r>
              <a:rPr lang="en-US" sz="3399" dirty="0" err="1" smtClean="0">
                <a:solidFill>
                  <a:srgbClr val="F5B244"/>
                </a:solidFill>
                <a:latin typeface="Canva Sans"/>
                <a:ea typeface="Canva Sans"/>
                <a:cs typeface="Canva Sans"/>
                <a:sym typeface="Canva Sans"/>
              </a:rPr>
              <a:t>Patil</a:t>
            </a:r>
            <a:endParaRPr lang="en-US" sz="3399" dirty="0">
              <a:solidFill>
                <a:srgbClr val="F5B244"/>
              </a:solidFill>
              <a:latin typeface="Canva Sans"/>
              <a:ea typeface="Canva Sans"/>
              <a:cs typeface="Canva Sans"/>
              <a:sym typeface="Canva Sans"/>
            </a:endParaRPr>
          </a:p>
        </p:txBody>
      </p:sp>
      <p:sp>
        <p:nvSpPr>
          <p:cNvPr id="23" name="TextBox 2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340808">
                <a:alpha val="100000"/>
              </a:srgbClr>
            </a:gs>
            <a:gs pos="100000">
              <a:srgbClr val="10020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7812729" y="-1320968"/>
            <a:ext cx="13673516" cy="1367351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40808">
                    <a:alpha val="100000"/>
                  </a:srgbClr>
                </a:gs>
                <a:gs pos="100000">
                  <a:srgbClr val="100202">
                    <a:alpha val="100000"/>
                  </a:srgbClr>
                </a:gs>
              </a:gsLst>
              <a:lin ang="0"/>
            </a:gradFill>
          </p:spPr>
        </p:sp>
        <p:sp>
          <p:nvSpPr>
            <p:cNvPr id="4" name="TextBox 4"/>
            <p:cNvSpPr txBox="1"/>
            <p:nvPr/>
          </p:nvSpPr>
          <p:spPr>
            <a:xfrm>
              <a:off x="76200" y="-47625"/>
              <a:ext cx="660400" cy="784225"/>
            </a:xfrm>
            <a:prstGeom prst="rect">
              <a:avLst/>
            </a:prstGeom>
          </p:spPr>
          <p:txBody>
            <a:bodyPr lIns="50800" tIns="50800" rIns="50800" bIns="50800" rtlCol="0" anchor="ctr"/>
            <a:lstStyle/>
            <a:p>
              <a:pPr marL="0" lvl="0" indent="0" algn="l">
                <a:lnSpc>
                  <a:spcPts val="3919"/>
                </a:lnSpc>
                <a:spcBef>
                  <a:spcPct val="0"/>
                </a:spcBef>
              </a:pPr>
              <a:endParaRPr/>
            </a:p>
          </p:txBody>
        </p:sp>
      </p:grpSp>
      <p:sp>
        <p:nvSpPr>
          <p:cNvPr id="5" name="Freeform 5"/>
          <p:cNvSpPr/>
          <p:nvPr/>
        </p:nvSpPr>
        <p:spPr>
          <a:xfrm>
            <a:off x="6400110" y="-615504"/>
            <a:ext cx="2249352" cy="1231009"/>
          </a:xfrm>
          <a:custGeom>
            <a:avLst/>
            <a:gdLst/>
            <a:ahLst/>
            <a:cxnLst/>
            <a:rect l="l" t="t" r="r" b="b"/>
            <a:pathLst>
              <a:path w="2249352" h="1231009">
                <a:moveTo>
                  <a:pt x="0" y="0"/>
                </a:moveTo>
                <a:lnTo>
                  <a:pt x="2249351" y="0"/>
                </a:lnTo>
                <a:lnTo>
                  <a:pt x="2249351" y="1231008"/>
                </a:lnTo>
                <a:lnTo>
                  <a:pt x="0" y="123100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6" name="Group 6"/>
          <p:cNvGrpSpPr/>
          <p:nvPr/>
        </p:nvGrpSpPr>
        <p:grpSpPr>
          <a:xfrm>
            <a:off x="484052" y="4077004"/>
            <a:ext cx="2348899" cy="2348899"/>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8" name="TextBox 8"/>
            <p:cNvSpPr txBox="1"/>
            <p:nvPr/>
          </p:nvSpPr>
          <p:spPr>
            <a:xfrm>
              <a:off x="76200" y="-95250"/>
              <a:ext cx="660400" cy="831850"/>
            </a:xfrm>
            <a:prstGeom prst="rect">
              <a:avLst/>
            </a:prstGeom>
          </p:spPr>
          <p:txBody>
            <a:bodyPr lIns="50800" tIns="50800" rIns="50800" bIns="50800" rtlCol="0" anchor="ctr"/>
            <a:lstStyle/>
            <a:p>
              <a:pPr algn="ctr">
                <a:lnSpc>
                  <a:spcPts val="8399"/>
                </a:lnSpc>
              </a:pPr>
              <a:r>
                <a:rPr lang="en-US" sz="5999" b="1">
                  <a:solidFill>
                    <a:srgbClr val="340808"/>
                  </a:solidFill>
                  <a:latin typeface="Poppins Bold"/>
                  <a:ea typeface="Poppins Bold"/>
                  <a:cs typeface="Poppins Bold"/>
                  <a:sym typeface="Poppins Bold"/>
                </a:rPr>
                <a:t>1</a:t>
              </a:r>
            </a:p>
          </p:txBody>
        </p:sp>
      </p:grpSp>
      <p:grpSp>
        <p:nvGrpSpPr>
          <p:cNvPr id="9" name="Group 9"/>
          <p:cNvGrpSpPr/>
          <p:nvPr/>
        </p:nvGrpSpPr>
        <p:grpSpPr>
          <a:xfrm>
            <a:off x="16379369" y="8743950"/>
            <a:ext cx="3086100" cy="308610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sp>
        <p:nvSpPr>
          <p:cNvPr id="12" name="TextBox 12"/>
          <p:cNvSpPr txBox="1"/>
          <p:nvPr/>
        </p:nvSpPr>
        <p:spPr>
          <a:xfrm>
            <a:off x="11951749" y="1122903"/>
            <a:ext cx="927891" cy="358701"/>
          </a:xfrm>
          <a:prstGeom prst="rect">
            <a:avLst/>
          </a:prstGeom>
        </p:spPr>
        <p:txBody>
          <a:bodyPr lIns="0" tIns="0" rIns="0" bIns="0" rtlCol="0" anchor="t">
            <a:spAutoFit/>
          </a:bodyPr>
          <a:lstStyle/>
          <a:p>
            <a:pPr algn="ctr">
              <a:lnSpc>
                <a:spcPts val="2799"/>
              </a:lnSpc>
              <a:spcBef>
                <a:spcPct val="0"/>
              </a:spcBef>
            </a:pPr>
            <a:r>
              <a:rPr lang="en-US" sz="1999" b="1">
                <a:solidFill>
                  <a:srgbClr val="340808"/>
                </a:solidFill>
                <a:latin typeface="Poppins Bold"/>
                <a:ea typeface="Poppins Bold"/>
                <a:cs typeface="Poppins Bold"/>
                <a:sym typeface="Poppins Bold"/>
              </a:rPr>
              <a:t>Home</a:t>
            </a:r>
          </a:p>
        </p:txBody>
      </p:sp>
      <p:sp>
        <p:nvSpPr>
          <p:cNvPr id="13" name="TextBox 13"/>
          <p:cNvSpPr txBox="1"/>
          <p:nvPr/>
        </p:nvSpPr>
        <p:spPr>
          <a:xfrm>
            <a:off x="14185542" y="1122903"/>
            <a:ext cx="927891"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id="14" name="TextBox 14"/>
          <p:cNvSpPr txBox="1"/>
          <p:nvPr/>
        </p:nvSpPr>
        <p:spPr>
          <a:xfrm>
            <a:off x="15818061" y="1122903"/>
            <a:ext cx="1441239"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id="15" name="TextBox 15"/>
          <p:cNvSpPr txBox="1"/>
          <p:nvPr/>
        </p:nvSpPr>
        <p:spPr>
          <a:xfrm>
            <a:off x="1994769" y="1540399"/>
            <a:ext cx="14384599" cy="1185296"/>
          </a:xfrm>
          <a:prstGeom prst="rect">
            <a:avLst/>
          </a:prstGeom>
        </p:spPr>
        <p:txBody>
          <a:bodyPr lIns="0" tIns="0" rIns="0" bIns="0" rtlCol="0" anchor="t">
            <a:spAutoFit/>
          </a:bodyPr>
          <a:lstStyle/>
          <a:p>
            <a:pPr marL="0" lvl="0" indent="0" algn="ctr">
              <a:lnSpc>
                <a:spcPts val="8832"/>
              </a:lnSpc>
              <a:spcBef>
                <a:spcPct val="0"/>
              </a:spcBef>
            </a:pPr>
            <a:r>
              <a:rPr lang="en-US" sz="9200">
                <a:solidFill>
                  <a:srgbClr val="FFB000"/>
                </a:solidFill>
                <a:latin typeface="Anton"/>
                <a:ea typeface="Anton"/>
                <a:cs typeface="Anton"/>
                <a:sym typeface="Anton"/>
              </a:rPr>
              <a:t>TABLE OF CONTENTS</a:t>
            </a:r>
          </a:p>
        </p:txBody>
      </p:sp>
      <p:sp>
        <p:nvSpPr>
          <p:cNvPr id="16" name="TextBox 16"/>
          <p:cNvSpPr txBox="1"/>
          <p:nvPr/>
        </p:nvSpPr>
        <p:spPr>
          <a:xfrm>
            <a:off x="76457" y="6921203"/>
            <a:ext cx="3318586" cy="498028"/>
          </a:xfrm>
          <a:prstGeom prst="rect">
            <a:avLst/>
          </a:prstGeom>
        </p:spPr>
        <p:txBody>
          <a:bodyPr lIns="0" tIns="0" rIns="0" bIns="0" rtlCol="0" anchor="t">
            <a:spAutoFit/>
          </a:bodyPr>
          <a:lstStyle/>
          <a:p>
            <a:pPr algn="ctr">
              <a:lnSpc>
                <a:spcPts val="4006"/>
              </a:lnSpc>
            </a:pPr>
            <a:r>
              <a:rPr lang="en-US" sz="2357" b="1" spc="629">
                <a:solidFill>
                  <a:srgbClr val="FEDBB2"/>
                </a:solidFill>
                <a:latin typeface="Poppins Bold"/>
                <a:ea typeface="Poppins Bold"/>
                <a:cs typeface="Poppins Bold"/>
                <a:sym typeface="Poppins Bold"/>
              </a:rPr>
              <a:t>INTRODUCTION</a:t>
            </a:r>
          </a:p>
        </p:txBody>
      </p:sp>
      <p:sp>
        <p:nvSpPr>
          <p:cNvPr id="17" name="TextBox 17"/>
          <p:cNvSpPr txBox="1"/>
          <p:nvPr/>
        </p:nvSpPr>
        <p:spPr>
          <a:xfrm>
            <a:off x="3593824" y="6930728"/>
            <a:ext cx="3492759" cy="494947"/>
          </a:xfrm>
          <a:prstGeom prst="rect">
            <a:avLst/>
          </a:prstGeom>
        </p:spPr>
        <p:txBody>
          <a:bodyPr lIns="0" tIns="0" rIns="0" bIns="0" rtlCol="0" anchor="t">
            <a:spAutoFit/>
          </a:bodyPr>
          <a:lstStyle/>
          <a:p>
            <a:pPr algn="ctr">
              <a:lnSpc>
                <a:spcPts val="4089"/>
              </a:lnSpc>
            </a:pPr>
            <a:r>
              <a:rPr lang="en-US" sz="2405" b="1" spc="642">
                <a:solidFill>
                  <a:srgbClr val="FEDBB2"/>
                </a:solidFill>
                <a:latin typeface="Poppins Bold"/>
                <a:ea typeface="Poppins Bold"/>
                <a:cs typeface="Poppins Bold"/>
                <a:sym typeface="Poppins Bold"/>
              </a:rPr>
              <a:t>METHODOLOGY</a:t>
            </a:r>
          </a:p>
        </p:txBody>
      </p:sp>
      <p:sp>
        <p:nvSpPr>
          <p:cNvPr id="18" name="TextBox 18"/>
          <p:cNvSpPr txBox="1"/>
          <p:nvPr/>
        </p:nvSpPr>
        <p:spPr>
          <a:xfrm>
            <a:off x="7294478" y="6975178"/>
            <a:ext cx="3699045" cy="450496"/>
          </a:xfrm>
          <a:prstGeom prst="rect">
            <a:avLst/>
          </a:prstGeom>
        </p:spPr>
        <p:txBody>
          <a:bodyPr lIns="0" tIns="0" rIns="0" bIns="0" rtlCol="0" anchor="t">
            <a:spAutoFit/>
          </a:bodyPr>
          <a:lstStyle/>
          <a:p>
            <a:pPr algn="ctr">
              <a:lnSpc>
                <a:spcPts val="3749"/>
              </a:lnSpc>
            </a:pPr>
            <a:r>
              <a:rPr lang="en-US" sz="2205" b="1" spc="588">
                <a:solidFill>
                  <a:srgbClr val="FEDBB2"/>
                </a:solidFill>
                <a:latin typeface="Poppins Bold"/>
                <a:ea typeface="Poppins Bold"/>
                <a:cs typeface="Poppins Bold"/>
                <a:sym typeface="Poppins Bold"/>
              </a:rPr>
              <a:t>IMPLEMENTATION</a:t>
            </a:r>
          </a:p>
        </p:txBody>
      </p:sp>
      <p:sp>
        <p:nvSpPr>
          <p:cNvPr id="19" name="TextBox 19"/>
          <p:cNvSpPr txBox="1"/>
          <p:nvPr/>
        </p:nvSpPr>
        <p:spPr>
          <a:xfrm>
            <a:off x="11030118" y="6975178"/>
            <a:ext cx="3699045" cy="917221"/>
          </a:xfrm>
          <a:prstGeom prst="rect">
            <a:avLst/>
          </a:prstGeom>
        </p:spPr>
        <p:txBody>
          <a:bodyPr lIns="0" tIns="0" rIns="0" bIns="0" rtlCol="0" anchor="t">
            <a:spAutoFit/>
          </a:bodyPr>
          <a:lstStyle/>
          <a:p>
            <a:pPr algn="ctr">
              <a:lnSpc>
                <a:spcPts val="3749"/>
              </a:lnSpc>
            </a:pPr>
            <a:r>
              <a:rPr lang="en-US" sz="2205" b="1" spc="588">
                <a:solidFill>
                  <a:srgbClr val="FEDBB2"/>
                </a:solidFill>
                <a:latin typeface="Poppins Bold"/>
                <a:ea typeface="Poppins Bold"/>
                <a:cs typeface="Poppins Bold"/>
                <a:sym typeface="Poppins Bold"/>
              </a:rPr>
              <a:t>RESULTS AND DISCUSSION</a:t>
            </a:r>
          </a:p>
        </p:txBody>
      </p:sp>
      <p:grpSp>
        <p:nvGrpSpPr>
          <p:cNvPr id="20" name="Group 20"/>
          <p:cNvGrpSpPr/>
          <p:nvPr/>
        </p:nvGrpSpPr>
        <p:grpSpPr>
          <a:xfrm>
            <a:off x="3939831" y="4077004"/>
            <a:ext cx="2348899" cy="2348899"/>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22" name="TextBox 22"/>
            <p:cNvSpPr txBox="1"/>
            <p:nvPr/>
          </p:nvSpPr>
          <p:spPr>
            <a:xfrm>
              <a:off x="76200" y="-104775"/>
              <a:ext cx="660400" cy="841375"/>
            </a:xfrm>
            <a:prstGeom prst="rect">
              <a:avLst/>
            </a:prstGeom>
          </p:spPr>
          <p:txBody>
            <a:bodyPr lIns="50800" tIns="50800" rIns="50800" bIns="50800" rtlCol="0" anchor="ctr"/>
            <a:lstStyle/>
            <a:p>
              <a:pPr algn="ctr">
                <a:lnSpc>
                  <a:spcPts val="8400"/>
                </a:lnSpc>
              </a:pPr>
              <a:r>
                <a:rPr lang="en-US" sz="6000" b="1">
                  <a:solidFill>
                    <a:srgbClr val="340808"/>
                  </a:solidFill>
                  <a:latin typeface="Poppins Bold"/>
                  <a:ea typeface="Poppins Bold"/>
                  <a:cs typeface="Poppins Bold"/>
                  <a:sym typeface="Poppins Bold"/>
                </a:rPr>
                <a:t>2</a:t>
              </a:r>
            </a:p>
          </p:txBody>
        </p:sp>
      </p:grpSp>
      <p:grpSp>
        <p:nvGrpSpPr>
          <p:cNvPr id="23" name="Group 23"/>
          <p:cNvGrpSpPr/>
          <p:nvPr/>
        </p:nvGrpSpPr>
        <p:grpSpPr>
          <a:xfrm>
            <a:off x="7812729" y="4077004"/>
            <a:ext cx="2348899" cy="2348899"/>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25" name="TextBox 25"/>
            <p:cNvSpPr txBox="1"/>
            <p:nvPr/>
          </p:nvSpPr>
          <p:spPr>
            <a:xfrm>
              <a:off x="76200" y="-104775"/>
              <a:ext cx="660400" cy="841375"/>
            </a:xfrm>
            <a:prstGeom prst="rect">
              <a:avLst/>
            </a:prstGeom>
          </p:spPr>
          <p:txBody>
            <a:bodyPr lIns="50800" tIns="50800" rIns="50800" bIns="50800" rtlCol="0" anchor="ctr"/>
            <a:lstStyle/>
            <a:p>
              <a:pPr algn="ctr">
                <a:lnSpc>
                  <a:spcPts val="8400"/>
                </a:lnSpc>
              </a:pPr>
              <a:r>
                <a:rPr lang="en-US" sz="6000" b="1">
                  <a:solidFill>
                    <a:srgbClr val="000000"/>
                  </a:solidFill>
                  <a:latin typeface="Poppins Bold"/>
                  <a:ea typeface="Poppins Bold"/>
                  <a:cs typeface="Poppins Bold"/>
                  <a:sym typeface="Poppins Bold"/>
                </a:rPr>
                <a:t>3</a:t>
              </a:r>
            </a:p>
          </p:txBody>
        </p:sp>
      </p:grpSp>
      <p:grpSp>
        <p:nvGrpSpPr>
          <p:cNvPr id="26" name="Group 26"/>
          <p:cNvGrpSpPr/>
          <p:nvPr/>
        </p:nvGrpSpPr>
        <p:grpSpPr>
          <a:xfrm>
            <a:off x="11705191" y="4077004"/>
            <a:ext cx="2348899" cy="2348899"/>
            <a:chOff x="0" y="0"/>
            <a:chExt cx="812800" cy="812800"/>
          </a:xfrm>
        </p:grpSpPr>
        <p:sp>
          <p:nvSpPr>
            <p:cNvPr id="27" name="Freeform 2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28" name="TextBox 28"/>
            <p:cNvSpPr txBox="1"/>
            <p:nvPr/>
          </p:nvSpPr>
          <p:spPr>
            <a:xfrm>
              <a:off x="76200" y="-104775"/>
              <a:ext cx="660400" cy="841375"/>
            </a:xfrm>
            <a:prstGeom prst="rect">
              <a:avLst/>
            </a:prstGeom>
          </p:spPr>
          <p:txBody>
            <a:bodyPr lIns="50800" tIns="50800" rIns="50800" bIns="50800" rtlCol="0" anchor="ctr"/>
            <a:lstStyle/>
            <a:p>
              <a:pPr algn="ctr">
                <a:lnSpc>
                  <a:spcPts val="8400"/>
                </a:lnSpc>
              </a:pPr>
              <a:r>
                <a:rPr lang="en-US" sz="6000" b="1">
                  <a:solidFill>
                    <a:srgbClr val="000000"/>
                  </a:solidFill>
                  <a:latin typeface="Poppins Bold"/>
                  <a:ea typeface="Poppins Bold"/>
                  <a:cs typeface="Poppins Bold"/>
                  <a:sym typeface="Poppins Bold"/>
                </a:rPr>
                <a:t>4</a:t>
              </a:r>
            </a:p>
          </p:txBody>
        </p:sp>
      </p:grpSp>
      <p:grpSp>
        <p:nvGrpSpPr>
          <p:cNvPr id="29" name="Group 29"/>
          <p:cNvGrpSpPr/>
          <p:nvPr/>
        </p:nvGrpSpPr>
        <p:grpSpPr>
          <a:xfrm>
            <a:off x="15573520" y="4077004"/>
            <a:ext cx="2348899" cy="2348899"/>
            <a:chOff x="0" y="0"/>
            <a:chExt cx="812800" cy="812800"/>
          </a:xfrm>
        </p:grpSpPr>
        <p:sp>
          <p:nvSpPr>
            <p:cNvPr id="30" name="Freeform 3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31" name="TextBox 31"/>
            <p:cNvSpPr txBox="1"/>
            <p:nvPr/>
          </p:nvSpPr>
          <p:spPr>
            <a:xfrm>
              <a:off x="76200" y="-104775"/>
              <a:ext cx="660400" cy="841375"/>
            </a:xfrm>
            <a:prstGeom prst="rect">
              <a:avLst/>
            </a:prstGeom>
          </p:spPr>
          <p:txBody>
            <a:bodyPr lIns="50800" tIns="50800" rIns="50800" bIns="50800" rtlCol="0" anchor="ctr"/>
            <a:lstStyle/>
            <a:p>
              <a:pPr algn="ctr">
                <a:lnSpc>
                  <a:spcPts val="8400"/>
                </a:lnSpc>
              </a:pPr>
              <a:r>
                <a:rPr lang="en-US" sz="6000" b="1">
                  <a:solidFill>
                    <a:srgbClr val="000000"/>
                  </a:solidFill>
                  <a:latin typeface="Poppins Bold"/>
                  <a:ea typeface="Poppins Bold"/>
                  <a:cs typeface="Poppins Bold"/>
                  <a:sym typeface="Poppins Bold"/>
                </a:rPr>
                <a:t>5</a:t>
              </a:r>
            </a:p>
          </p:txBody>
        </p:sp>
      </p:grpSp>
      <p:sp>
        <p:nvSpPr>
          <p:cNvPr id="32" name="TextBox 32"/>
          <p:cNvSpPr txBox="1"/>
          <p:nvPr/>
        </p:nvSpPr>
        <p:spPr>
          <a:xfrm>
            <a:off x="14689158" y="6940253"/>
            <a:ext cx="3699045" cy="917221"/>
          </a:xfrm>
          <a:prstGeom prst="rect">
            <a:avLst/>
          </a:prstGeom>
        </p:spPr>
        <p:txBody>
          <a:bodyPr lIns="0" tIns="0" rIns="0" bIns="0" rtlCol="0" anchor="t">
            <a:spAutoFit/>
          </a:bodyPr>
          <a:lstStyle/>
          <a:p>
            <a:pPr algn="ctr">
              <a:lnSpc>
                <a:spcPts val="3749"/>
              </a:lnSpc>
            </a:pPr>
            <a:r>
              <a:rPr lang="en-US" sz="2205" b="1" spc="588">
                <a:solidFill>
                  <a:srgbClr val="FEDBB2"/>
                </a:solidFill>
                <a:latin typeface="Poppins Bold"/>
                <a:ea typeface="Poppins Bold"/>
                <a:cs typeface="Poppins Bold"/>
                <a:sym typeface="Poppins Bold"/>
              </a:rPr>
              <a:t>CONCLUSION   AND REFERENCE</a:t>
            </a:r>
          </a:p>
        </p:txBody>
      </p:sp>
      <p:sp>
        <p:nvSpPr>
          <p:cNvPr id="33" name="TextBox 3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340808">
                <a:alpha val="100000"/>
              </a:srgbClr>
            </a:gs>
            <a:gs pos="100000">
              <a:srgbClr val="10020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7133481" y="-4157825"/>
            <a:ext cx="13673516" cy="1367351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40808">
                    <a:alpha val="100000"/>
                  </a:srgbClr>
                </a:gs>
                <a:gs pos="100000">
                  <a:srgbClr val="100202">
                    <a:alpha val="100000"/>
                  </a:srgbClr>
                </a:gs>
              </a:gsLst>
              <a:lin ang="0"/>
            </a:gra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grpSp>
        <p:nvGrpSpPr>
          <p:cNvPr id="5" name="Group 5"/>
          <p:cNvGrpSpPr/>
          <p:nvPr/>
        </p:nvGrpSpPr>
        <p:grpSpPr>
          <a:xfrm>
            <a:off x="17259300" y="2638276"/>
            <a:ext cx="3086100" cy="308610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grpSp>
        <p:nvGrpSpPr>
          <p:cNvPr id="8" name="Group 8"/>
          <p:cNvGrpSpPr/>
          <p:nvPr/>
        </p:nvGrpSpPr>
        <p:grpSpPr>
          <a:xfrm>
            <a:off x="-4752131" y="5591166"/>
            <a:ext cx="11188851" cy="10668513"/>
            <a:chOff x="0" y="0"/>
            <a:chExt cx="812800" cy="775001"/>
          </a:xfrm>
        </p:grpSpPr>
        <p:sp>
          <p:nvSpPr>
            <p:cNvPr id="9" name="Freeform 9"/>
            <p:cNvSpPr/>
            <p:nvPr/>
          </p:nvSpPr>
          <p:spPr>
            <a:xfrm>
              <a:off x="0" y="0"/>
              <a:ext cx="812800" cy="775001"/>
            </a:xfrm>
            <a:custGeom>
              <a:avLst/>
              <a:gdLst/>
              <a:ahLst/>
              <a:cxnLst/>
              <a:rect l="l" t="t" r="r" b="b"/>
              <a:pathLst>
                <a:path w="812800" h="775001">
                  <a:moveTo>
                    <a:pt x="406400" y="0"/>
                  </a:moveTo>
                  <a:cubicBezTo>
                    <a:pt x="181951" y="0"/>
                    <a:pt x="0" y="173490"/>
                    <a:pt x="0" y="387500"/>
                  </a:cubicBezTo>
                  <a:cubicBezTo>
                    <a:pt x="0" y="601511"/>
                    <a:pt x="181951" y="775001"/>
                    <a:pt x="406400" y="775001"/>
                  </a:cubicBezTo>
                  <a:cubicBezTo>
                    <a:pt x="630849" y="775001"/>
                    <a:pt x="812800" y="601511"/>
                    <a:pt x="812800" y="387500"/>
                  </a:cubicBezTo>
                  <a:cubicBezTo>
                    <a:pt x="812800" y="173490"/>
                    <a:pt x="630849" y="0"/>
                    <a:pt x="406400" y="0"/>
                  </a:cubicBezTo>
                  <a:close/>
                </a:path>
              </a:pathLst>
            </a:custGeom>
            <a:solidFill>
              <a:srgbClr val="FFB000"/>
            </a:solidFill>
          </p:spPr>
        </p:sp>
        <p:sp>
          <p:nvSpPr>
            <p:cNvPr id="10" name="TextBox 10"/>
            <p:cNvSpPr txBox="1"/>
            <p:nvPr/>
          </p:nvSpPr>
          <p:spPr>
            <a:xfrm>
              <a:off x="76200" y="15506"/>
              <a:ext cx="660400" cy="686838"/>
            </a:xfrm>
            <a:prstGeom prst="rect">
              <a:avLst/>
            </a:prstGeom>
          </p:spPr>
          <p:txBody>
            <a:bodyPr lIns="44922" tIns="44922" rIns="44922" bIns="44922" rtlCol="0" anchor="ctr"/>
            <a:lstStyle/>
            <a:p>
              <a:pPr algn="ctr">
                <a:lnSpc>
                  <a:spcPts val="2659"/>
                </a:lnSpc>
              </a:pPr>
              <a:endParaRPr/>
            </a:p>
          </p:txBody>
        </p:sp>
      </p:grpSp>
      <p:sp>
        <p:nvSpPr>
          <p:cNvPr id="11" name="Freeform 11"/>
          <p:cNvSpPr/>
          <p:nvPr/>
        </p:nvSpPr>
        <p:spPr>
          <a:xfrm>
            <a:off x="614537" y="2934859"/>
            <a:ext cx="7623625" cy="7614096"/>
          </a:xfrm>
          <a:custGeom>
            <a:avLst/>
            <a:gdLst/>
            <a:ahLst/>
            <a:cxnLst/>
            <a:rect l="l" t="t" r="r" b="b"/>
            <a:pathLst>
              <a:path w="7623625" h="7614096">
                <a:moveTo>
                  <a:pt x="0" y="0"/>
                </a:moveTo>
                <a:lnTo>
                  <a:pt x="7623625" y="0"/>
                </a:lnTo>
                <a:lnTo>
                  <a:pt x="7623625" y="7614096"/>
                </a:lnTo>
                <a:lnTo>
                  <a:pt x="0" y="7614096"/>
                </a:lnTo>
                <a:lnTo>
                  <a:pt x="0" y="0"/>
                </a:lnTo>
                <a:close/>
              </a:path>
            </a:pathLst>
          </a:custGeom>
          <a:blipFill>
            <a:blip r:embed="rId2"/>
            <a:stretch>
              <a:fillRect/>
            </a:stretch>
          </a:blipFill>
        </p:spPr>
      </p:sp>
      <p:sp>
        <p:nvSpPr>
          <p:cNvPr id="12" name="Freeform 12"/>
          <p:cNvSpPr/>
          <p:nvPr/>
        </p:nvSpPr>
        <p:spPr>
          <a:xfrm>
            <a:off x="-1386147" y="2319355"/>
            <a:ext cx="2249352" cy="1231009"/>
          </a:xfrm>
          <a:custGeom>
            <a:avLst/>
            <a:gdLst/>
            <a:ahLst/>
            <a:cxnLst/>
            <a:rect l="l" t="t" r="r" b="b"/>
            <a:pathLst>
              <a:path w="2249352" h="1231009">
                <a:moveTo>
                  <a:pt x="0" y="0"/>
                </a:moveTo>
                <a:lnTo>
                  <a:pt x="2249351" y="0"/>
                </a:lnTo>
                <a:lnTo>
                  <a:pt x="2249351" y="1231009"/>
                </a:lnTo>
                <a:lnTo>
                  <a:pt x="0" y="1231009"/>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3" name="Freeform 13"/>
          <p:cNvSpPr/>
          <p:nvPr/>
        </p:nvSpPr>
        <p:spPr>
          <a:xfrm>
            <a:off x="15009948" y="9515692"/>
            <a:ext cx="2249352" cy="1231009"/>
          </a:xfrm>
          <a:custGeom>
            <a:avLst/>
            <a:gdLst/>
            <a:ahLst/>
            <a:cxnLst/>
            <a:rect l="l" t="t" r="r" b="b"/>
            <a:pathLst>
              <a:path w="2249352" h="1231009">
                <a:moveTo>
                  <a:pt x="0" y="0"/>
                </a:moveTo>
                <a:lnTo>
                  <a:pt x="2249352" y="0"/>
                </a:lnTo>
                <a:lnTo>
                  <a:pt x="2249352" y="1231008"/>
                </a:lnTo>
                <a:lnTo>
                  <a:pt x="0" y="1231008"/>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
        <p:nvSpPr>
          <p:cNvPr id="15" name="TextBox 15"/>
          <p:cNvSpPr txBox="1"/>
          <p:nvPr/>
        </p:nvSpPr>
        <p:spPr>
          <a:xfrm>
            <a:off x="11951749" y="1122903"/>
            <a:ext cx="927891" cy="358701"/>
          </a:xfrm>
          <a:prstGeom prst="rect">
            <a:avLst/>
          </a:prstGeom>
        </p:spPr>
        <p:txBody>
          <a:bodyPr lIns="0" tIns="0" rIns="0" bIns="0" rtlCol="0" anchor="t">
            <a:spAutoFit/>
          </a:bodyPr>
          <a:lstStyle/>
          <a:p>
            <a:pPr algn="ctr">
              <a:lnSpc>
                <a:spcPts val="2799"/>
              </a:lnSpc>
              <a:spcBef>
                <a:spcPct val="0"/>
              </a:spcBef>
            </a:pPr>
            <a:r>
              <a:rPr lang="en-US" sz="1999" b="1">
                <a:solidFill>
                  <a:srgbClr val="340808"/>
                </a:solidFill>
                <a:latin typeface="Poppins Bold"/>
                <a:ea typeface="Poppins Bold"/>
                <a:cs typeface="Poppins Bold"/>
                <a:sym typeface="Poppins Bold"/>
              </a:rPr>
              <a:t>Home</a:t>
            </a:r>
          </a:p>
        </p:txBody>
      </p:sp>
      <p:sp>
        <p:nvSpPr>
          <p:cNvPr id="16" name="TextBox 16"/>
          <p:cNvSpPr txBox="1"/>
          <p:nvPr/>
        </p:nvSpPr>
        <p:spPr>
          <a:xfrm>
            <a:off x="14185542" y="1122903"/>
            <a:ext cx="927891"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id="17" name="TextBox 17"/>
          <p:cNvSpPr txBox="1"/>
          <p:nvPr/>
        </p:nvSpPr>
        <p:spPr>
          <a:xfrm>
            <a:off x="15818061" y="1122903"/>
            <a:ext cx="1441239"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id="18" name="TextBox 18"/>
          <p:cNvSpPr txBox="1"/>
          <p:nvPr/>
        </p:nvSpPr>
        <p:spPr>
          <a:xfrm>
            <a:off x="1559966" y="1569831"/>
            <a:ext cx="14879039" cy="5886227"/>
          </a:xfrm>
          <a:prstGeom prst="rect">
            <a:avLst/>
          </a:prstGeom>
        </p:spPr>
        <p:txBody>
          <a:bodyPr wrap="square" lIns="0" tIns="0" rIns="0" bIns="0" rtlCol="0" anchor="t">
            <a:spAutoFit/>
          </a:bodyPr>
          <a:lstStyle/>
          <a:p>
            <a:pPr algn="just">
              <a:lnSpc>
                <a:spcPts val="5099"/>
              </a:lnSpc>
            </a:pPr>
            <a:r>
              <a:rPr lang="en-US" sz="3200" dirty="0">
                <a:solidFill>
                  <a:schemeClr val="bg1"/>
                </a:solidFill>
              </a:rPr>
              <a:t>Image sharpening is an essential image enhancement technique used to improve the visual clarity of images by accentuating fine details and edges. It is widely used in fields such as photography, medical imaging, remote sensing, and computer vision. The primary goal of sharpening is to make an image more visually appealing or more useful for analysis by highlighting critical features</a:t>
            </a:r>
            <a:r>
              <a:rPr lang="en-US" sz="3200" dirty="0" smtClean="0">
                <a:solidFill>
                  <a:schemeClr val="bg1"/>
                </a:solidFill>
              </a:rPr>
              <a:t>.</a:t>
            </a:r>
            <a:endParaRPr lang="en-US" sz="2999" dirty="0">
              <a:solidFill>
                <a:schemeClr val="bg1"/>
              </a:solidFill>
              <a:latin typeface="Poppins"/>
              <a:cs typeface="Poppins"/>
              <a:sym typeface="Poppins"/>
            </a:endParaRPr>
          </a:p>
          <a:p>
            <a:pPr algn="just">
              <a:lnSpc>
                <a:spcPts val="5099"/>
              </a:lnSpc>
            </a:pPr>
            <a:r>
              <a:rPr lang="en-US" sz="3200" dirty="0">
                <a:solidFill>
                  <a:schemeClr val="bg1"/>
                </a:solidFill>
              </a:rPr>
              <a:t>Traditional sharpening techniques such as </a:t>
            </a:r>
            <a:r>
              <a:rPr lang="en-US" sz="3200" dirty="0" err="1">
                <a:solidFill>
                  <a:schemeClr val="bg1"/>
                </a:solidFill>
              </a:rPr>
              <a:t>unsharp</a:t>
            </a:r>
            <a:r>
              <a:rPr lang="en-US" sz="3200" dirty="0">
                <a:solidFill>
                  <a:schemeClr val="bg1"/>
                </a:solidFill>
              </a:rPr>
              <a:t> masking, high-pass filtering, and </a:t>
            </a:r>
            <a:r>
              <a:rPr lang="en-US" sz="3200" dirty="0" err="1">
                <a:solidFill>
                  <a:schemeClr val="bg1"/>
                </a:solidFill>
              </a:rPr>
              <a:t>Laplacian</a:t>
            </a:r>
            <a:r>
              <a:rPr lang="en-US" sz="3200" dirty="0">
                <a:solidFill>
                  <a:schemeClr val="bg1"/>
                </a:solidFill>
              </a:rPr>
              <a:t> filters use fixed mathematical operations to enhance edges. However, these methods often struggle in the presence of noise or blur and tend to generalize poorly to diverse image types. </a:t>
            </a:r>
          </a:p>
        </p:txBody>
      </p:sp>
      <p:sp>
        <p:nvSpPr>
          <p:cNvPr id="19" name="TextBox 19"/>
          <p:cNvSpPr txBox="1"/>
          <p:nvPr/>
        </p:nvSpPr>
        <p:spPr>
          <a:xfrm>
            <a:off x="5943600" y="421885"/>
            <a:ext cx="10282825" cy="1013098"/>
          </a:xfrm>
          <a:prstGeom prst="rect">
            <a:avLst/>
          </a:prstGeom>
        </p:spPr>
        <p:txBody>
          <a:bodyPr wrap="square" lIns="0" tIns="0" rIns="0" bIns="0" rtlCol="0" anchor="t">
            <a:spAutoFit/>
          </a:bodyPr>
          <a:lstStyle/>
          <a:p>
            <a:pPr marL="0" lvl="0" indent="0" algn="l">
              <a:lnSpc>
                <a:spcPts val="7878"/>
              </a:lnSpc>
              <a:spcBef>
                <a:spcPct val="0"/>
              </a:spcBef>
            </a:pPr>
            <a:r>
              <a:rPr lang="en-US" sz="8206" dirty="0">
                <a:solidFill>
                  <a:srgbClr val="FFB000"/>
                </a:solidFill>
                <a:latin typeface="Anton"/>
                <a:ea typeface="Anton"/>
                <a:cs typeface="Anton"/>
                <a:sym typeface="Anton"/>
              </a:rPr>
              <a:t>INTRODUCTION</a:t>
            </a:r>
          </a:p>
        </p:txBody>
      </p:sp>
      <p:sp>
        <p:nvSpPr>
          <p:cNvPr id="20" name="TextBox 20"/>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3</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340808">
                <a:alpha val="100000"/>
              </a:srgbClr>
            </a:gs>
            <a:gs pos="100000">
              <a:srgbClr val="10020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8026089" y="-4415216"/>
            <a:ext cx="13673516" cy="1367351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40808">
                    <a:alpha val="100000"/>
                  </a:srgbClr>
                </a:gs>
                <a:gs pos="100000">
                  <a:srgbClr val="100202">
                    <a:alpha val="100000"/>
                  </a:srgbClr>
                </a:gs>
              </a:gsLst>
              <a:lin ang="0"/>
            </a:gradFill>
          </p:spPr>
        </p:sp>
        <p:sp>
          <p:nvSpPr>
            <p:cNvPr id="4" name="TextBox 4"/>
            <p:cNvSpPr txBox="1"/>
            <p:nvPr/>
          </p:nvSpPr>
          <p:spPr>
            <a:xfrm>
              <a:off x="76200" y="-47625"/>
              <a:ext cx="660400" cy="784225"/>
            </a:xfrm>
            <a:prstGeom prst="rect">
              <a:avLst/>
            </a:prstGeom>
          </p:spPr>
          <p:txBody>
            <a:bodyPr lIns="50800" tIns="50800" rIns="50800" bIns="50800" rtlCol="0" anchor="ctr"/>
            <a:lstStyle/>
            <a:p>
              <a:pPr marL="0" lvl="0" indent="0" algn="l">
                <a:lnSpc>
                  <a:spcPts val="3919"/>
                </a:lnSpc>
                <a:spcBef>
                  <a:spcPct val="0"/>
                </a:spcBef>
              </a:pPr>
              <a:endParaRPr/>
            </a:p>
          </p:txBody>
        </p:sp>
      </p:grpSp>
      <p:sp>
        <p:nvSpPr>
          <p:cNvPr id="5" name="Freeform 5"/>
          <p:cNvSpPr/>
          <p:nvPr/>
        </p:nvSpPr>
        <p:spPr>
          <a:xfrm>
            <a:off x="6400110" y="-615504"/>
            <a:ext cx="2249352" cy="1231009"/>
          </a:xfrm>
          <a:custGeom>
            <a:avLst/>
            <a:gdLst/>
            <a:ahLst/>
            <a:cxnLst/>
            <a:rect l="l" t="t" r="r" b="b"/>
            <a:pathLst>
              <a:path w="2249352" h="1231009">
                <a:moveTo>
                  <a:pt x="0" y="0"/>
                </a:moveTo>
                <a:lnTo>
                  <a:pt x="2249351" y="0"/>
                </a:lnTo>
                <a:lnTo>
                  <a:pt x="2249351" y="1231008"/>
                </a:lnTo>
                <a:lnTo>
                  <a:pt x="0" y="123100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TextBox 6"/>
          <p:cNvSpPr txBox="1"/>
          <p:nvPr/>
        </p:nvSpPr>
        <p:spPr>
          <a:xfrm>
            <a:off x="11951749" y="1122903"/>
            <a:ext cx="927891" cy="358701"/>
          </a:xfrm>
          <a:prstGeom prst="rect">
            <a:avLst/>
          </a:prstGeom>
        </p:spPr>
        <p:txBody>
          <a:bodyPr lIns="0" tIns="0" rIns="0" bIns="0" rtlCol="0" anchor="t">
            <a:spAutoFit/>
          </a:bodyPr>
          <a:lstStyle/>
          <a:p>
            <a:pPr algn="ctr">
              <a:lnSpc>
                <a:spcPts val="2799"/>
              </a:lnSpc>
              <a:spcBef>
                <a:spcPct val="0"/>
              </a:spcBef>
            </a:pPr>
            <a:r>
              <a:rPr lang="en-US" sz="1999" b="1">
                <a:solidFill>
                  <a:srgbClr val="340808"/>
                </a:solidFill>
                <a:latin typeface="Poppins Bold"/>
                <a:ea typeface="Poppins Bold"/>
                <a:cs typeface="Poppins Bold"/>
                <a:sym typeface="Poppins Bold"/>
              </a:rPr>
              <a:t>Home</a:t>
            </a:r>
          </a:p>
        </p:txBody>
      </p:sp>
      <p:sp>
        <p:nvSpPr>
          <p:cNvPr id="7" name="TextBox 7"/>
          <p:cNvSpPr txBox="1"/>
          <p:nvPr/>
        </p:nvSpPr>
        <p:spPr>
          <a:xfrm>
            <a:off x="14185542" y="1122903"/>
            <a:ext cx="927891"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id="8" name="TextBox 8"/>
          <p:cNvSpPr txBox="1"/>
          <p:nvPr/>
        </p:nvSpPr>
        <p:spPr>
          <a:xfrm>
            <a:off x="15818061" y="1122903"/>
            <a:ext cx="1441239"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id="9" name="TextBox 9"/>
          <p:cNvSpPr txBox="1"/>
          <p:nvPr/>
        </p:nvSpPr>
        <p:spPr>
          <a:xfrm>
            <a:off x="1028700" y="7347148"/>
            <a:ext cx="927891" cy="358701"/>
          </a:xfrm>
          <a:prstGeom prst="rect">
            <a:avLst/>
          </a:prstGeom>
        </p:spPr>
        <p:txBody>
          <a:bodyPr lIns="0" tIns="0" rIns="0" bIns="0" rtlCol="0" anchor="t">
            <a:spAutoFit/>
          </a:bodyPr>
          <a:lstStyle/>
          <a:p>
            <a:pPr algn="ctr">
              <a:lnSpc>
                <a:spcPts val="2799"/>
              </a:lnSpc>
              <a:spcBef>
                <a:spcPct val="0"/>
              </a:spcBef>
            </a:pPr>
            <a:r>
              <a:rPr lang="en-US" sz="1999" b="1">
                <a:solidFill>
                  <a:srgbClr val="340808"/>
                </a:solidFill>
                <a:latin typeface="Poppins Bold"/>
                <a:ea typeface="Poppins Bold"/>
                <a:cs typeface="Poppins Bold"/>
                <a:sym typeface="Poppins Bold"/>
              </a:rPr>
              <a:t>$30</a:t>
            </a:r>
          </a:p>
        </p:txBody>
      </p:sp>
      <p:sp>
        <p:nvSpPr>
          <p:cNvPr id="10" name="TextBox 10"/>
          <p:cNvSpPr txBox="1"/>
          <p:nvPr/>
        </p:nvSpPr>
        <p:spPr>
          <a:xfrm>
            <a:off x="9136820" y="7347148"/>
            <a:ext cx="927891" cy="358701"/>
          </a:xfrm>
          <a:prstGeom prst="rect">
            <a:avLst/>
          </a:prstGeom>
        </p:spPr>
        <p:txBody>
          <a:bodyPr lIns="0" tIns="0" rIns="0" bIns="0" rtlCol="0" anchor="t">
            <a:spAutoFit/>
          </a:bodyPr>
          <a:lstStyle/>
          <a:p>
            <a:pPr algn="ctr">
              <a:lnSpc>
                <a:spcPts val="2799"/>
              </a:lnSpc>
              <a:spcBef>
                <a:spcPct val="0"/>
              </a:spcBef>
            </a:pPr>
            <a:r>
              <a:rPr lang="en-US" sz="1999" b="1">
                <a:solidFill>
                  <a:srgbClr val="340808"/>
                </a:solidFill>
                <a:latin typeface="Poppins Bold"/>
                <a:ea typeface="Poppins Bold"/>
                <a:cs typeface="Poppins Bold"/>
                <a:sym typeface="Poppins Bold"/>
              </a:rPr>
              <a:t>$30</a:t>
            </a:r>
          </a:p>
        </p:txBody>
      </p:sp>
      <p:grpSp>
        <p:nvGrpSpPr>
          <p:cNvPr id="11" name="Group 11"/>
          <p:cNvGrpSpPr/>
          <p:nvPr/>
        </p:nvGrpSpPr>
        <p:grpSpPr>
          <a:xfrm>
            <a:off x="16379369" y="8743950"/>
            <a:ext cx="3086100" cy="308610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sp>
        <p:nvSpPr>
          <p:cNvPr id="14" name="TextBox 1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
        <p:nvSpPr>
          <p:cNvPr id="21" name="TextBox 21"/>
          <p:cNvSpPr txBox="1"/>
          <p:nvPr/>
        </p:nvSpPr>
        <p:spPr>
          <a:xfrm>
            <a:off x="190511" y="6484272"/>
            <a:ext cx="18097489" cy="1077218"/>
          </a:xfrm>
          <a:prstGeom prst="rect">
            <a:avLst/>
          </a:prstGeom>
        </p:spPr>
        <p:txBody>
          <a:bodyPr lIns="0" tIns="0" rIns="0" bIns="0" rtlCol="0" anchor="t">
            <a:spAutoFit/>
          </a:bodyPr>
          <a:lstStyle/>
          <a:p>
            <a:pPr marL="323851" lvl="1" algn="l">
              <a:lnSpc>
                <a:spcPts val="4200"/>
              </a:lnSpc>
            </a:pPr>
            <a:endParaRPr lang="en-US" sz="3000" dirty="0">
              <a:solidFill>
                <a:srgbClr val="FFFFFF"/>
              </a:solidFill>
              <a:latin typeface="Poppins"/>
              <a:ea typeface="Poppins"/>
              <a:cs typeface="Poppins"/>
              <a:sym typeface="Poppins"/>
            </a:endParaRPr>
          </a:p>
          <a:p>
            <a:pPr algn="just">
              <a:lnSpc>
                <a:spcPts val="4200"/>
              </a:lnSpc>
            </a:pPr>
            <a:endParaRPr lang="en-US" sz="3000" dirty="0">
              <a:solidFill>
                <a:srgbClr val="FFFFFF"/>
              </a:solidFill>
              <a:latin typeface="Poppins"/>
              <a:ea typeface="Poppins"/>
              <a:cs typeface="Poppins"/>
              <a:sym typeface="Poppins"/>
            </a:endParaRPr>
          </a:p>
        </p:txBody>
      </p:sp>
      <p:sp>
        <p:nvSpPr>
          <p:cNvPr id="22" name="TextBox 22"/>
          <p:cNvSpPr txBox="1"/>
          <p:nvPr/>
        </p:nvSpPr>
        <p:spPr>
          <a:xfrm>
            <a:off x="327743" y="7639173"/>
            <a:ext cx="9067106" cy="600036"/>
          </a:xfrm>
          <a:prstGeom prst="rect">
            <a:avLst/>
          </a:prstGeom>
        </p:spPr>
        <p:txBody>
          <a:bodyPr lIns="0" tIns="0" rIns="0" bIns="0" rtlCol="0" anchor="t">
            <a:spAutoFit/>
          </a:bodyPr>
          <a:lstStyle/>
          <a:p>
            <a:pPr algn="ctr">
              <a:lnSpc>
                <a:spcPts val="5039"/>
              </a:lnSpc>
            </a:pPr>
            <a:r>
              <a:rPr lang="en-US" sz="3599" b="1" dirty="0" smtClean="0">
                <a:solidFill>
                  <a:srgbClr val="FFFFFF"/>
                </a:solidFill>
                <a:latin typeface="Canva Sans Bold"/>
                <a:ea typeface="Canva Sans Bold"/>
                <a:cs typeface="Canva Sans Bold"/>
                <a:sym typeface="Canva Sans Bold"/>
              </a:rPr>
              <a:t> </a:t>
            </a:r>
            <a:endParaRPr lang="en-US" sz="3599" b="1" dirty="0">
              <a:solidFill>
                <a:srgbClr val="FFFFFF"/>
              </a:solidFill>
              <a:latin typeface="Canva Sans Bold"/>
              <a:ea typeface="Canva Sans Bold"/>
              <a:cs typeface="Canva Sans Bold"/>
              <a:sym typeface="Canva Sans Bold"/>
            </a:endParaRPr>
          </a:p>
        </p:txBody>
      </p:sp>
      <p:sp>
        <p:nvSpPr>
          <p:cNvPr id="24" name="Title 23"/>
          <p:cNvSpPr>
            <a:spLocks noGrp="1"/>
          </p:cNvSpPr>
          <p:nvPr>
            <p:ph type="title"/>
          </p:nvPr>
        </p:nvSpPr>
        <p:spPr/>
        <p:txBody>
          <a:bodyPr>
            <a:normAutofit/>
          </a:bodyPr>
          <a:lstStyle/>
          <a:p>
            <a:r>
              <a:rPr lang="en-US" sz="6000" b="1" dirty="0" smtClean="0">
                <a:solidFill>
                  <a:srgbClr val="FFC000"/>
                </a:solidFill>
                <a:latin typeface="Anton" panose="020B0604020202020204" charset="0"/>
              </a:rPr>
              <a:t>OBJECTIVES</a:t>
            </a:r>
            <a:endParaRPr lang="en-US" sz="6000" b="1" dirty="0">
              <a:solidFill>
                <a:srgbClr val="FFC000"/>
              </a:solidFill>
              <a:latin typeface="Anton" panose="020B0604020202020204" charset="0"/>
            </a:endParaRPr>
          </a:p>
        </p:txBody>
      </p:sp>
      <p:sp>
        <p:nvSpPr>
          <p:cNvPr id="25" name="Content Placeholder 24"/>
          <p:cNvSpPr>
            <a:spLocks noGrp="1"/>
          </p:cNvSpPr>
          <p:nvPr>
            <p:ph idx="1"/>
          </p:nvPr>
        </p:nvSpPr>
        <p:spPr>
          <a:xfrm>
            <a:off x="838200" y="1600200"/>
            <a:ext cx="14782800" cy="7810500"/>
          </a:xfrm>
        </p:spPr>
        <p:txBody>
          <a:bodyPr>
            <a:normAutofit/>
          </a:bodyPr>
          <a:lstStyle/>
          <a:p>
            <a:pPr marL="0" indent="0">
              <a:buNone/>
            </a:pPr>
            <a:r>
              <a:rPr lang="en-US" dirty="0">
                <a:solidFill>
                  <a:schemeClr val="bg1"/>
                </a:solidFill>
              </a:rPr>
              <a:t>The main objectives of this project are:</a:t>
            </a:r>
          </a:p>
          <a:p>
            <a:pPr marL="0" indent="0" algn="just">
              <a:buNone/>
            </a:pPr>
            <a:r>
              <a:rPr lang="en-US" dirty="0" smtClean="0">
                <a:solidFill>
                  <a:schemeClr val="bg1"/>
                </a:solidFill>
              </a:rPr>
              <a:t>•  To </a:t>
            </a:r>
            <a:r>
              <a:rPr lang="en-US" dirty="0">
                <a:solidFill>
                  <a:schemeClr val="bg1"/>
                </a:solidFill>
              </a:rPr>
              <a:t>study and compare traditional and deep learning-based image sharpening techniques.</a:t>
            </a:r>
          </a:p>
          <a:p>
            <a:pPr marL="0" indent="0" algn="just">
              <a:buNone/>
            </a:pPr>
            <a:r>
              <a:rPr lang="en-US" dirty="0" smtClean="0">
                <a:solidFill>
                  <a:schemeClr val="bg1"/>
                </a:solidFill>
              </a:rPr>
              <a:t>•  To </a:t>
            </a:r>
            <a:r>
              <a:rPr lang="en-US" dirty="0">
                <a:solidFill>
                  <a:schemeClr val="bg1"/>
                </a:solidFill>
              </a:rPr>
              <a:t>develop a deep learning teacher model capable of producing high-quality sharpened images.</a:t>
            </a:r>
          </a:p>
          <a:p>
            <a:pPr marL="0" indent="0" algn="just">
              <a:buNone/>
            </a:pPr>
            <a:r>
              <a:rPr lang="en-US" dirty="0" smtClean="0">
                <a:solidFill>
                  <a:schemeClr val="bg1"/>
                </a:solidFill>
              </a:rPr>
              <a:t>• </a:t>
            </a:r>
            <a:r>
              <a:rPr lang="en-US" dirty="0">
                <a:solidFill>
                  <a:schemeClr val="bg1"/>
                </a:solidFill>
              </a:rPr>
              <a:t> </a:t>
            </a:r>
            <a:r>
              <a:rPr lang="en-US" dirty="0" smtClean="0">
                <a:solidFill>
                  <a:schemeClr val="bg1"/>
                </a:solidFill>
              </a:rPr>
              <a:t>To </a:t>
            </a:r>
            <a:r>
              <a:rPr lang="en-US" dirty="0">
                <a:solidFill>
                  <a:schemeClr val="bg1"/>
                </a:solidFill>
              </a:rPr>
              <a:t>implement a lightweight student model trained via knowledge distillation to replicate the teacher’s sharpening capabilities.</a:t>
            </a:r>
          </a:p>
          <a:p>
            <a:pPr marL="0" indent="0" algn="just">
              <a:buNone/>
            </a:pPr>
            <a:r>
              <a:rPr lang="en-US" dirty="0" smtClean="0">
                <a:solidFill>
                  <a:schemeClr val="bg1"/>
                </a:solidFill>
              </a:rPr>
              <a:t>•</a:t>
            </a:r>
            <a:r>
              <a:rPr lang="en-US" dirty="0">
                <a:solidFill>
                  <a:schemeClr val="bg1"/>
                </a:solidFill>
              </a:rPr>
              <a:t> </a:t>
            </a:r>
            <a:r>
              <a:rPr lang="en-US" dirty="0" smtClean="0">
                <a:solidFill>
                  <a:schemeClr val="bg1"/>
                </a:solidFill>
              </a:rPr>
              <a:t> To </a:t>
            </a:r>
            <a:r>
              <a:rPr lang="en-US" dirty="0">
                <a:solidFill>
                  <a:schemeClr val="bg1"/>
                </a:solidFill>
              </a:rPr>
              <a:t>design and implement the complete pipeline using Python and relevant libraries like </a:t>
            </a:r>
            <a:r>
              <a:rPr lang="en-US" dirty="0" err="1">
                <a:solidFill>
                  <a:schemeClr val="bg1"/>
                </a:solidFill>
              </a:rPr>
              <a:t>PyTorch</a:t>
            </a:r>
            <a:r>
              <a:rPr lang="en-US" dirty="0">
                <a:solidFill>
                  <a:schemeClr val="bg1"/>
                </a:solidFill>
              </a:rPr>
              <a:t> and </a:t>
            </a:r>
            <a:r>
              <a:rPr lang="en-US" dirty="0" err="1">
                <a:solidFill>
                  <a:schemeClr val="bg1"/>
                </a:solidFill>
              </a:rPr>
              <a:t>OpenCV</a:t>
            </a:r>
            <a:r>
              <a:rPr lang="en-US" dirty="0">
                <a:solidFill>
                  <a:schemeClr val="bg1"/>
                </a:solidFill>
              </a:rPr>
              <a:t>.</a:t>
            </a:r>
          </a:p>
          <a:p>
            <a:pPr marL="0" indent="0" algn="just">
              <a:buNone/>
            </a:pPr>
            <a:r>
              <a:rPr lang="en-US" dirty="0" smtClean="0">
                <a:solidFill>
                  <a:schemeClr val="bg1"/>
                </a:solidFill>
              </a:rPr>
              <a:t>•  To </a:t>
            </a:r>
            <a:r>
              <a:rPr lang="en-US" dirty="0">
                <a:solidFill>
                  <a:schemeClr val="bg1"/>
                </a:solidFill>
              </a:rPr>
              <a:t>evaluate the performance of the student model using standard image quality metrics such as PSNR (Peak Signal-to-Noise Ratio), SSIM (Structural Similarity Index), and inference time.</a:t>
            </a:r>
          </a:p>
          <a:p>
            <a:pPr marL="0" indent="0" algn="just">
              <a:buNone/>
            </a:pPr>
            <a:r>
              <a:rPr lang="en-US" dirty="0" smtClean="0">
                <a:solidFill>
                  <a:schemeClr val="bg1"/>
                </a:solidFill>
              </a:rPr>
              <a:t>•  To </a:t>
            </a:r>
            <a:r>
              <a:rPr lang="en-US" dirty="0">
                <a:solidFill>
                  <a:schemeClr val="bg1"/>
                </a:solidFill>
              </a:rPr>
              <a:t>create a deployable sharpening tool suitable for real-time or resource-constrained applications.</a:t>
            </a:r>
          </a:p>
          <a:p>
            <a:endParaRPr lang="en-US" dirty="0">
              <a:solidFill>
                <a:schemeClr val="bg1"/>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340808">
                <a:alpha val="100000"/>
              </a:srgbClr>
            </a:gs>
            <a:gs pos="100000">
              <a:srgbClr val="10020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7812729" y="-4415216"/>
            <a:ext cx="13673516" cy="1367351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40808">
                    <a:alpha val="100000"/>
                  </a:srgbClr>
                </a:gs>
                <a:gs pos="100000">
                  <a:srgbClr val="100202">
                    <a:alpha val="100000"/>
                  </a:srgbClr>
                </a:gs>
              </a:gsLst>
              <a:lin ang="0"/>
            </a:gradFill>
          </p:spPr>
        </p:sp>
        <p:sp>
          <p:nvSpPr>
            <p:cNvPr id="4" name="TextBox 4"/>
            <p:cNvSpPr txBox="1"/>
            <p:nvPr/>
          </p:nvSpPr>
          <p:spPr>
            <a:xfrm>
              <a:off x="76200" y="-47625"/>
              <a:ext cx="660400" cy="784225"/>
            </a:xfrm>
            <a:prstGeom prst="rect">
              <a:avLst/>
            </a:prstGeom>
          </p:spPr>
          <p:txBody>
            <a:bodyPr lIns="50800" tIns="50800" rIns="50800" bIns="50800" rtlCol="0" anchor="ctr"/>
            <a:lstStyle/>
            <a:p>
              <a:pPr marL="0" lvl="0" indent="0" algn="l">
                <a:lnSpc>
                  <a:spcPts val="3919"/>
                </a:lnSpc>
                <a:spcBef>
                  <a:spcPct val="0"/>
                </a:spcBef>
              </a:pPr>
              <a:endParaRPr/>
            </a:p>
          </p:txBody>
        </p:sp>
      </p:grpSp>
      <p:sp>
        <p:nvSpPr>
          <p:cNvPr id="5" name="Freeform 5"/>
          <p:cNvSpPr/>
          <p:nvPr/>
        </p:nvSpPr>
        <p:spPr>
          <a:xfrm>
            <a:off x="6400110" y="-615504"/>
            <a:ext cx="2249352" cy="1231009"/>
          </a:xfrm>
          <a:custGeom>
            <a:avLst/>
            <a:gdLst/>
            <a:ahLst/>
            <a:cxnLst/>
            <a:rect l="l" t="t" r="r" b="b"/>
            <a:pathLst>
              <a:path w="2249352" h="1231009">
                <a:moveTo>
                  <a:pt x="0" y="0"/>
                </a:moveTo>
                <a:lnTo>
                  <a:pt x="2249351" y="0"/>
                </a:lnTo>
                <a:lnTo>
                  <a:pt x="2249351" y="1231008"/>
                </a:lnTo>
                <a:lnTo>
                  <a:pt x="0" y="123100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7" name="TextBox 7"/>
          <p:cNvSpPr txBox="1"/>
          <p:nvPr/>
        </p:nvSpPr>
        <p:spPr>
          <a:xfrm>
            <a:off x="11951749" y="1122903"/>
            <a:ext cx="927891" cy="358701"/>
          </a:xfrm>
          <a:prstGeom prst="rect">
            <a:avLst/>
          </a:prstGeom>
        </p:spPr>
        <p:txBody>
          <a:bodyPr lIns="0" tIns="0" rIns="0" bIns="0" rtlCol="0" anchor="t">
            <a:spAutoFit/>
          </a:bodyPr>
          <a:lstStyle/>
          <a:p>
            <a:pPr algn="ctr">
              <a:lnSpc>
                <a:spcPts val="2799"/>
              </a:lnSpc>
              <a:spcBef>
                <a:spcPct val="0"/>
              </a:spcBef>
            </a:pPr>
            <a:r>
              <a:rPr lang="en-US" sz="1999" b="1">
                <a:solidFill>
                  <a:srgbClr val="340808"/>
                </a:solidFill>
                <a:latin typeface="Poppins Bold"/>
                <a:ea typeface="Poppins Bold"/>
                <a:cs typeface="Poppins Bold"/>
                <a:sym typeface="Poppins Bold"/>
              </a:rPr>
              <a:t>Home</a:t>
            </a:r>
          </a:p>
        </p:txBody>
      </p:sp>
      <p:sp>
        <p:nvSpPr>
          <p:cNvPr id="8" name="TextBox 8"/>
          <p:cNvSpPr txBox="1"/>
          <p:nvPr/>
        </p:nvSpPr>
        <p:spPr>
          <a:xfrm>
            <a:off x="14185542" y="1122903"/>
            <a:ext cx="927891"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id="9" name="TextBox 9"/>
          <p:cNvSpPr txBox="1"/>
          <p:nvPr/>
        </p:nvSpPr>
        <p:spPr>
          <a:xfrm>
            <a:off x="15818061" y="1122903"/>
            <a:ext cx="1441239"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id="11" name="TextBox 11"/>
          <p:cNvSpPr txBox="1"/>
          <p:nvPr/>
        </p:nvSpPr>
        <p:spPr>
          <a:xfrm>
            <a:off x="1028700" y="7347148"/>
            <a:ext cx="927891" cy="358701"/>
          </a:xfrm>
          <a:prstGeom prst="rect">
            <a:avLst/>
          </a:prstGeom>
        </p:spPr>
        <p:txBody>
          <a:bodyPr lIns="0" tIns="0" rIns="0" bIns="0" rtlCol="0" anchor="t">
            <a:spAutoFit/>
          </a:bodyPr>
          <a:lstStyle/>
          <a:p>
            <a:pPr algn="ctr">
              <a:lnSpc>
                <a:spcPts val="2799"/>
              </a:lnSpc>
              <a:spcBef>
                <a:spcPct val="0"/>
              </a:spcBef>
            </a:pPr>
            <a:r>
              <a:rPr lang="en-US" sz="1999" b="1">
                <a:solidFill>
                  <a:srgbClr val="340808"/>
                </a:solidFill>
                <a:latin typeface="Poppins Bold"/>
                <a:ea typeface="Poppins Bold"/>
                <a:cs typeface="Poppins Bold"/>
                <a:sym typeface="Poppins Bold"/>
              </a:rPr>
              <a:t>$30</a:t>
            </a:r>
          </a:p>
        </p:txBody>
      </p:sp>
      <p:grpSp>
        <p:nvGrpSpPr>
          <p:cNvPr id="12" name="Group 12"/>
          <p:cNvGrpSpPr/>
          <p:nvPr/>
        </p:nvGrpSpPr>
        <p:grpSpPr>
          <a:xfrm>
            <a:off x="16379369" y="8743950"/>
            <a:ext cx="3086100" cy="308610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14" name="TextBox 14"/>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sp>
        <p:nvSpPr>
          <p:cNvPr id="15" name="TextBox 1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
        <p:nvSpPr>
          <p:cNvPr id="16" name="Title 15"/>
          <p:cNvSpPr>
            <a:spLocks noGrp="1"/>
          </p:cNvSpPr>
          <p:nvPr>
            <p:ph type="title"/>
          </p:nvPr>
        </p:nvSpPr>
        <p:spPr>
          <a:xfrm>
            <a:off x="4038599" y="274638"/>
            <a:ext cx="7208521" cy="1143000"/>
          </a:xfrm>
        </p:spPr>
        <p:txBody>
          <a:bodyPr>
            <a:normAutofit/>
          </a:bodyPr>
          <a:lstStyle/>
          <a:p>
            <a:r>
              <a:rPr lang="en-US" sz="6000" dirty="0" smtClean="0">
                <a:solidFill>
                  <a:srgbClr val="FFC000"/>
                </a:solidFill>
                <a:latin typeface="Anton" panose="020B0604020202020204" charset="0"/>
              </a:rPr>
              <a:t>METHODOLOGY</a:t>
            </a:r>
            <a:endParaRPr lang="en-US" sz="6000" dirty="0">
              <a:solidFill>
                <a:srgbClr val="FFC000"/>
              </a:solidFill>
              <a:latin typeface="Anton" panose="020B0604020202020204" charset="0"/>
            </a:endParaRPr>
          </a:p>
        </p:txBody>
      </p:sp>
      <p:sp>
        <p:nvSpPr>
          <p:cNvPr id="17" name="Content Placeholder 16"/>
          <p:cNvSpPr>
            <a:spLocks noGrp="1"/>
          </p:cNvSpPr>
          <p:nvPr>
            <p:ph idx="1"/>
          </p:nvPr>
        </p:nvSpPr>
        <p:spPr>
          <a:xfrm>
            <a:off x="762000" y="1600200"/>
            <a:ext cx="15906690" cy="7658100"/>
          </a:xfrm>
        </p:spPr>
        <p:txBody>
          <a:bodyPr>
            <a:normAutofit fontScale="92500" lnSpcReduction="10000"/>
          </a:bodyPr>
          <a:lstStyle/>
          <a:p>
            <a:pPr marL="0" indent="0">
              <a:buNone/>
            </a:pPr>
            <a:r>
              <a:rPr lang="en-US" b="1" dirty="0">
                <a:solidFill>
                  <a:srgbClr val="FFC000"/>
                </a:solidFill>
              </a:rPr>
              <a:t>System Overview</a:t>
            </a:r>
          </a:p>
          <a:p>
            <a:r>
              <a:rPr lang="en-US" b="1" dirty="0">
                <a:solidFill>
                  <a:schemeClr val="bg1"/>
                </a:solidFill>
              </a:rPr>
              <a:t>Teacher Model</a:t>
            </a:r>
            <a:r>
              <a:rPr lang="en-US" dirty="0">
                <a:solidFill>
                  <a:schemeClr val="bg1"/>
                </a:solidFill>
              </a:rPr>
              <a:t>: Deep CNN trained on blurry-sharp image pairs to generate high-quality outputs.</a:t>
            </a:r>
          </a:p>
          <a:p>
            <a:r>
              <a:rPr lang="en-US" b="1" dirty="0">
                <a:solidFill>
                  <a:schemeClr val="bg1"/>
                </a:solidFill>
              </a:rPr>
              <a:t>Student Model</a:t>
            </a:r>
            <a:r>
              <a:rPr lang="en-US" dirty="0">
                <a:solidFill>
                  <a:schemeClr val="bg1"/>
                </a:solidFill>
              </a:rPr>
              <a:t>: Lightweight CNN trained via Knowledge Distillation (KD) to mimic teacher.</a:t>
            </a:r>
          </a:p>
          <a:p>
            <a:r>
              <a:rPr lang="en-US" b="1" dirty="0">
                <a:solidFill>
                  <a:schemeClr val="bg1"/>
                </a:solidFill>
              </a:rPr>
              <a:t>Distillation</a:t>
            </a:r>
            <a:r>
              <a:rPr lang="en-US" dirty="0">
                <a:solidFill>
                  <a:schemeClr val="bg1"/>
                </a:solidFill>
              </a:rPr>
              <a:t>: Combines ground truth and teacher outputs to train the </a:t>
            </a:r>
            <a:r>
              <a:rPr lang="en-US" dirty="0" smtClean="0">
                <a:solidFill>
                  <a:schemeClr val="bg1"/>
                </a:solidFill>
              </a:rPr>
              <a:t>student.</a:t>
            </a:r>
          </a:p>
          <a:p>
            <a:pPr marL="0" indent="0">
              <a:buNone/>
            </a:pPr>
            <a:r>
              <a:rPr lang="en-US" b="1" dirty="0" smtClean="0">
                <a:solidFill>
                  <a:srgbClr val="FFC000"/>
                </a:solidFill>
              </a:rPr>
              <a:t>Tools &amp; Technologies</a:t>
            </a:r>
          </a:p>
          <a:p>
            <a:r>
              <a:rPr lang="en-US" b="1" dirty="0" smtClean="0">
                <a:solidFill>
                  <a:schemeClr val="bg1"/>
                </a:solidFill>
              </a:rPr>
              <a:t>Language</a:t>
            </a:r>
            <a:r>
              <a:rPr lang="en-US" dirty="0">
                <a:solidFill>
                  <a:schemeClr val="bg1"/>
                </a:solidFill>
              </a:rPr>
              <a:t>: Python</a:t>
            </a:r>
          </a:p>
          <a:p>
            <a:r>
              <a:rPr lang="en-US" b="1" dirty="0">
                <a:solidFill>
                  <a:schemeClr val="bg1"/>
                </a:solidFill>
              </a:rPr>
              <a:t>Frameworks</a:t>
            </a:r>
            <a:r>
              <a:rPr lang="en-US" dirty="0">
                <a:solidFill>
                  <a:schemeClr val="bg1"/>
                </a:solidFill>
              </a:rPr>
              <a:t>: </a:t>
            </a:r>
            <a:r>
              <a:rPr lang="en-US" dirty="0" err="1">
                <a:solidFill>
                  <a:schemeClr val="bg1"/>
                </a:solidFill>
              </a:rPr>
              <a:t>PyTorch</a:t>
            </a:r>
            <a:r>
              <a:rPr lang="en-US" dirty="0">
                <a:solidFill>
                  <a:schemeClr val="bg1"/>
                </a:solidFill>
              </a:rPr>
              <a:t>, </a:t>
            </a:r>
            <a:r>
              <a:rPr lang="en-US" dirty="0" err="1">
                <a:solidFill>
                  <a:schemeClr val="bg1"/>
                </a:solidFill>
              </a:rPr>
              <a:t>TensorFlow</a:t>
            </a:r>
            <a:endParaRPr lang="en-US" dirty="0">
              <a:solidFill>
                <a:schemeClr val="bg1"/>
              </a:solidFill>
            </a:endParaRPr>
          </a:p>
          <a:p>
            <a:r>
              <a:rPr lang="en-US" b="1" dirty="0">
                <a:solidFill>
                  <a:schemeClr val="bg1"/>
                </a:solidFill>
              </a:rPr>
              <a:t>Libraries</a:t>
            </a:r>
            <a:r>
              <a:rPr lang="en-US" dirty="0">
                <a:solidFill>
                  <a:schemeClr val="bg1"/>
                </a:solidFill>
              </a:rPr>
              <a:t>: </a:t>
            </a:r>
            <a:r>
              <a:rPr lang="en-US" dirty="0" err="1">
                <a:solidFill>
                  <a:schemeClr val="bg1"/>
                </a:solidFill>
              </a:rPr>
              <a:t>OpenCV</a:t>
            </a:r>
            <a:r>
              <a:rPr lang="en-US" dirty="0">
                <a:solidFill>
                  <a:schemeClr val="bg1"/>
                </a:solidFill>
              </a:rPr>
              <a:t>, PIL, </a:t>
            </a:r>
            <a:r>
              <a:rPr lang="en-US" dirty="0" err="1">
                <a:solidFill>
                  <a:schemeClr val="bg1"/>
                </a:solidFill>
              </a:rPr>
              <a:t>NumPy</a:t>
            </a:r>
            <a:r>
              <a:rPr lang="en-US" dirty="0">
                <a:solidFill>
                  <a:schemeClr val="bg1"/>
                </a:solidFill>
              </a:rPr>
              <a:t>, Pandas</a:t>
            </a:r>
          </a:p>
          <a:p>
            <a:r>
              <a:rPr lang="en-US" b="1" dirty="0">
                <a:solidFill>
                  <a:schemeClr val="bg1"/>
                </a:solidFill>
              </a:rPr>
              <a:t>Visualization</a:t>
            </a:r>
            <a:r>
              <a:rPr lang="en-US" dirty="0">
                <a:solidFill>
                  <a:schemeClr val="bg1"/>
                </a:solidFill>
              </a:rPr>
              <a:t>: </a:t>
            </a:r>
            <a:r>
              <a:rPr lang="en-US" dirty="0" err="1">
                <a:solidFill>
                  <a:schemeClr val="bg1"/>
                </a:solidFill>
              </a:rPr>
              <a:t>Matplotlib</a:t>
            </a:r>
            <a:r>
              <a:rPr lang="en-US" dirty="0">
                <a:solidFill>
                  <a:schemeClr val="bg1"/>
                </a:solidFill>
              </a:rPr>
              <a:t>, </a:t>
            </a:r>
            <a:r>
              <a:rPr lang="en-US" dirty="0" err="1">
                <a:solidFill>
                  <a:schemeClr val="bg1"/>
                </a:solidFill>
              </a:rPr>
              <a:t>Seaborn</a:t>
            </a:r>
            <a:endParaRPr lang="en-US" dirty="0">
              <a:solidFill>
                <a:schemeClr val="bg1"/>
              </a:solidFill>
            </a:endParaRPr>
          </a:p>
          <a:p>
            <a:r>
              <a:rPr lang="en-US" b="1" dirty="0">
                <a:solidFill>
                  <a:schemeClr val="bg1"/>
                </a:solidFill>
              </a:rPr>
              <a:t>Evaluation</a:t>
            </a:r>
            <a:r>
              <a:rPr lang="en-US" dirty="0">
                <a:solidFill>
                  <a:schemeClr val="bg1"/>
                </a:solidFill>
              </a:rPr>
              <a:t>: PSNR, SSIM, Inference </a:t>
            </a:r>
            <a:r>
              <a:rPr lang="en-US" dirty="0" smtClean="0">
                <a:solidFill>
                  <a:schemeClr val="bg1"/>
                </a:solidFill>
              </a:rPr>
              <a:t>Time</a:t>
            </a:r>
          </a:p>
          <a:p>
            <a:pPr marL="0" indent="0">
              <a:buNone/>
            </a:pPr>
            <a:r>
              <a:rPr lang="en-US" b="1" dirty="0" smtClean="0">
                <a:solidFill>
                  <a:srgbClr val="FFC000"/>
                </a:solidFill>
              </a:rPr>
              <a:t>Data Preparation</a:t>
            </a:r>
          </a:p>
          <a:p>
            <a:r>
              <a:rPr lang="en-US" b="1" dirty="0" smtClean="0">
                <a:solidFill>
                  <a:schemeClr val="bg1"/>
                </a:solidFill>
              </a:rPr>
              <a:t>Dataset</a:t>
            </a:r>
            <a:r>
              <a:rPr lang="en-US" dirty="0">
                <a:solidFill>
                  <a:schemeClr val="bg1"/>
                </a:solidFill>
              </a:rPr>
              <a:t>: DIV2K, BSD500, custom images</a:t>
            </a:r>
          </a:p>
          <a:p>
            <a:r>
              <a:rPr lang="en-US" b="1" dirty="0">
                <a:solidFill>
                  <a:schemeClr val="bg1"/>
                </a:solidFill>
              </a:rPr>
              <a:t>Preprocessing</a:t>
            </a:r>
            <a:r>
              <a:rPr lang="en-US" dirty="0">
                <a:solidFill>
                  <a:schemeClr val="bg1"/>
                </a:solidFill>
              </a:rPr>
              <a:t>: Resize, normalize, apply blur</a:t>
            </a:r>
          </a:p>
          <a:p>
            <a:r>
              <a:rPr lang="en-US" b="1" dirty="0">
                <a:solidFill>
                  <a:schemeClr val="bg1"/>
                </a:solidFill>
              </a:rPr>
              <a:t>Augmentation</a:t>
            </a:r>
            <a:r>
              <a:rPr lang="en-US" dirty="0">
                <a:solidFill>
                  <a:schemeClr val="bg1"/>
                </a:solidFill>
              </a:rPr>
              <a:t>: Flips, rotation, cropping</a:t>
            </a:r>
          </a:p>
          <a:p>
            <a:endParaRPr lang="en-US" dirty="0">
              <a:solidFill>
                <a:schemeClr val="bg1"/>
              </a:solidFill>
            </a:endParaRPr>
          </a:p>
          <a:p>
            <a:endParaRPr lang="en-US" dirty="0">
              <a:solidFill>
                <a:srgbClr val="FFC000"/>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340808">
                <a:alpha val="100000"/>
              </a:srgbClr>
            </a:gs>
            <a:gs pos="100000">
              <a:srgbClr val="10020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485292" y="9258300"/>
            <a:ext cx="5248815" cy="5004719"/>
            <a:chOff x="0" y="0"/>
            <a:chExt cx="812800" cy="775001"/>
          </a:xfrm>
        </p:grpSpPr>
        <p:sp>
          <p:nvSpPr>
            <p:cNvPr id="3" name="Freeform 3"/>
            <p:cNvSpPr/>
            <p:nvPr/>
          </p:nvSpPr>
          <p:spPr>
            <a:xfrm>
              <a:off x="0" y="0"/>
              <a:ext cx="812800" cy="775001"/>
            </a:xfrm>
            <a:custGeom>
              <a:avLst/>
              <a:gdLst/>
              <a:ahLst/>
              <a:cxnLst/>
              <a:rect l="l" t="t" r="r" b="b"/>
              <a:pathLst>
                <a:path w="812800" h="775001">
                  <a:moveTo>
                    <a:pt x="406400" y="0"/>
                  </a:moveTo>
                  <a:cubicBezTo>
                    <a:pt x="181951" y="0"/>
                    <a:pt x="0" y="173490"/>
                    <a:pt x="0" y="387500"/>
                  </a:cubicBezTo>
                  <a:cubicBezTo>
                    <a:pt x="0" y="601511"/>
                    <a:pt x="181951" y="775001"/>
                    <a:pt x="406400" y="775001"/>
                  </a:cubicBezTo>
                  <a:cubicBezTo>
                    <a:pt x="630849" y="775001"/>
                    <a:pt x="812800" y="601511"/>
                    <a:pt x="812800" y="387500"/>
                  </a:cubicBezTo>
                  <a:cubicBezTo>
                    <a:pt x="812800" y="173490"/>
                    <a:pt x="630849" y="0"/>
                    <a:pt x="406400" y="0"/>
                  </a:cubicBezTo>
                  <a:close/>
                </a:path>
              </a:pathLst>
            </a:custGeom>
            <a:solidFill>
              <a:srgbClr val="FFB000"/>
            </a:solidFill>
          </p:spPr>
        </p:sp>
        <p:sp>
          <p:nvSpPr>
            <p:cNvPr id="4" name="TextBox 4"/>
            <p:cNvSpPr txBox="1"/>
            <p:nvPr/>
          </p:nvSpPr>
          <p:spPr>
            <a:xfrm>
              <a:off x="76200" y="15506"/>
              <a:ext cx="660400" cy="686838"/>
            </a:xfrm>
            <a:prstGeom prst="rect">
              <a:avLst/>
            </a:prstGeom>
          </p:spPr>
          <p:txBody>
            <a:bodyPr lIns="44922" tIns="44922" rIns="44922" bIns="44922" rtlCol="0" anchor="ctr"/>
            <a:lstStyle/>
            <a:p>
              <a:pPr algn="ctr">
                <a:lnSpc>
                  <a:spcPts val="2659"/>
                </a:lnSpc>
              </a:pPr>
              <a:endParaRPr/>
            </a:p>
          </p:txBody>
        </p:sp>
      </p:grpSp>
      <p:grpSp>
        <p:nvGrpSpPr>
          <p:cNvPr id="5" name="Group 5"/>
          <p:cNvGrpSpPr/>
          <p:nvPr/>
        </p:nvGrpSpPr>
        <p:grpSpPr>
          <a:xfrm>
            <a:off x="13987987" y="-6571985"/>
            <a:ext cx="8539967" cy="853996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40808">
                    <a:alpha val="100000"/>
                  </a:srgbClr>
                </a:gs>
                <a:gs pos="100000">
                  <a:srgbClr val="100202">
                    <a:alpha val="100000"/>
                  </a:srgbClr>
                </a:gs>
              </a:gsLst>
              <a:lin ang="0"/>
            </a:gra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grpSp>
        <p:nvGrpSpPr>
          <p:cNvPr id="8" name="Group 8"/>
          <p:cNvGrpSpPr/>
          <p:nvPr/>
        </p:nvGrpSpPr>
        <p:grpSpPr>
          <a:xfrm>
            <a:off x="15716250" y="9744075"/>
            <a:ext cx="3086100" cy="308610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10" name="TextBox 10"/>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sp>
        <p:nvSpPr>
          <p:cNvPr id="11" name="Freeform 11"/>
          <p:cNvSpPr/>
          <p:nvPr/>
        </p:nvSpPr>
        <p:spPr>
          <a:xfrm>
            <a:off x="-1386147" y="2319355"/>
            <a:ext cx="2249352" cy="1231009"/>
          </a:xfrm>
          <a:custGeom>
            <a:avLst/>
            <a:gdLst/>
            <a:ahLst/>
            <a:cxnLst/>
            <a:rect l="l" t="t" r="r" b="b"/>
            <a:pathLst>
              <a:path w="2249352" h="1231009">
                <a:moveTo>
                  <a:pt x="0" y="0"/>
                </a:moveTo>
                <a:lnTo>
                  <a:pt x="2249351" y="0"/>
                </a:lnTo>
                <a:lnTo>
                  <a:pt x="2249351" y="1231009"/>
                </a:lnTo>
                <a:lnTo>
                  <a:pt x="0" y="123100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2" name="Freeform 12"/>
          <p:cNvSpPr/>
          <p:nvPr/>
        </p:nvSpPr>
        <p:spPr>
          <a:xfrm>
            <a:off x="15009948" y="9515692"/>
            <a:ext cx="2249352" cy="1231009"/>
          </a:xfrm>
          <a:custGeom>
            <a:avLst/>
            <a:gdLst/>
            <a:ahLst/>
            <a:cxnLst/>
            <a:rect l="l" t="t" r="r" b="b"/>
            <a:pathLst>
              <a:path w="2249352" h="1231009">
                <a:moveTo>
                  <a:pt x="0" y="0"/>
                </a:moveTo>
                <a:lnTo>
                  <a:pt x="2249352" y="0"/>
                </a:lnTo>
                <a:lnTo>
                  <a:pt x="2249352" y="1231008"/>
                </a:lnTo>
                <a:lnTo>
                  <a:pt x="0" y="123100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3" name="TextBox 13"/>
          <p:cNvSpPr txBox="1"/>
          <p:nvPr/>
        </p:nvSpPr>
        <p:spPr>
          <a:xfrm>
            <a:off x="11951749" y="1122903"/>
            <a:ext cx="927891" cy="358701"/>
          </a:xfrm>
          <a:prstGeom prst="rect">
            <a:avLst/>
          </a:prstGeom>
        </p:spPr>
        <p:txBody>
          <a:bodyPr lIns="0" tIns="0" rIns="0" bIns="0" rtlCol="0" anchor="t">
            <a:spAutoFit/>
          </a:bodyPr>
          <a:lstStyle/>
          <a:p>
            <a:pPr algn="ctr">
              <a:lnSpc>
                <a:spcPts val="2799"/>
              </a:lnSpc>
              <a:spcBef>
                <a:spcPct val="0"/>
              </a:spcBef>
            </a:pPr>
            <a:r>
              <a:rPr lang="en-US" sz="1999" b="1">
                <a:solidFill>
                  <a:srgbClr val="340808"/>
                </a:solidFill>
                <a:latin typeface="Poppins Bold"/>
                <a:ea typeface="Poppins Bold"/>
                <a:cs typeface="Poppins Bold"/>
                <a:sym typeface="Poppins Bold"/>
              </a:rPr>
              <a:t>Home</a:t>
            </a:r>
          </a:p>
        </p:txBody>
      </p:sp>
      <p:sp>
        <p:nvSpPr>
          <p:cNvPr id="14" name="TextBox 14"/>
          <p:cNvSpPr txBox="1"/>
          <p:nvPr/>
        </p:nvSpPr>
        <p:spPr>
          <a:xfrm>
            <a:off x="14185542" y="1122903"/>
            <a:ext cx="927891"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id="15" name="TextBox 15"/>
          <p:cNvSpPr txBox="1"/>
          <p:nvPr/>
        </p:nvSpPr>
        <p:spPr>
          <a:xfrm>
            <a:off x="15818061" y="1122903"/>
            <a:ext cx="1441239" cy="358742"/>
          </a:xfrm>
          <a:prstGeom prst="rect">
            <a:avLst/>
          </a:prstGeom>
        </p:spPr>
        <p:txBody>
          <a:bodyPr lIns="0" tIns="0" rIns="0" bIns="0" rtlCol="0" anchor="t">
            <a:spAutoFit/>
          </a:bodyPr>
          <a:lstStyle/>
          <a:p>
            <a:pPr algn="ctr">
              <a:lnSpc>
                <a:spcPts val="2799"/>
              </a:lnSpc>
              <a:spcBef>
                <a:spcPct val="0"/>
              </a:spcBef>
            </a:pPr>
            <a:r>
              <a:rPr lang="en-US" sz="1999" dirty="0">
                <a:solidFill>
                  <a:srgbClr val="340808"/>
                </a:solidFill>
                <a:latin typeface="Poppins"/>
                <a:ea typeface="Poppins"/>
                <a:cs typeface="Poppins"/>
                <a:sym typeface="Poppins"/>
              </a:rPr>
              <a:t>Contact</a:t>
            </a:r>
          </a:p>
        </p:txBody>
      </p:sp>
      <p:sp>
        <p:nvSpPr>
          <p:cNvPr id="17" name="TextBox 1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6</a:t>
            </a:r>
          </a:p>
        </p:txBody>
      </p:sp>
      <p:sp>
        <p:nvSpPr>
          <p:cNvPr id="20" name="Title 17"/>
          <p:cNvSpPr>
            <a:spLocks noGrp="1"/>
          </p:cNvSpPr>
          <p:nvPr>
            <p:ph idx="1"/>
          </p:nvPr>
        </p:nvSpPr>
        <p:spPr>
          <a:xfrm>
            <a:off x="968339" y="594818"/>
            <a:ext cx="15989427" cy="8982569"/>
          </a:xfrm>
        </p:spPr>
        <p:txBody>
          <a:bodyPr>
            <a:normAutofit fontScale="45000" lnSpcReduction="20000"/>
          </a:bodyPr>
          <a:lstStyle/>
          <a:p>
            <a:pPr marL="0" indent="0">
              <a:buNone/>
            </a:pPr>
            <a:r>
              <a:rPr lang="en-US" sz="5300" b="1" dirty="0">
                <a:solidFill>
                  <a:srgbClr val="FFC000"/>
                </a:solidFill>
              </a:rPr>
              <a:t>Teacher Model Training</a:t>
            </a:r>
          </a:p>
          <a:p>
            <a:r>
              <a:rPr lang="en-US" sz="5300" b="1" dirty="0">
                <a:solidFill>
                  <a:schemeClr val="bg1"/>
                </a:solidFill>
              </a:rPr>
              <a:t>Model</a:t>
            </a:r>
            <a:r>
              <a:rPr lang="en-US" sz="5300" dirty="0">
                <a:solidFill>
                  <a:schemeClr val="bg1"/>
                </a:solidFill>
              </a:rPr>
              <a:t>: </a:t>
            </a:r>
            <a:r>
              <a:rPr lang="en-US" sz="5300" dirty="0" err="1">
                <a:solidFill>
                  <a:schemeClr val="bg1"/>
                </a:solidFill>
              </a:rPr>
              <a:t>ResNet</a:t>
            </a:r>
            <a:r>
              <a:rPr lang="en-US" sz="5300" dirty="0">
                <a:solidFill>
                  <a:schemeClr val="bg1"/>
                </a:solidFill>
              </a:rPr>
              <a:t>/U-Net</a:t>
            </a:r>
          </a:p>
          <a:p>
            <a:r>
              <a:rPr lang="en-US" sz="5300" b="1" dirty="0">
                <a:solidFill>
                  <a:schemeClr val="bg1"/>
                </a:solidFill>
              </a:rPr>
              <a:t>Loss</a:t>
            </a:r>
            <a:r>
              <a:rPr lang="en-US" sz="5300" dirty="0">
                <a:solidFill>
                  <a:schemeClr val="bg1"/>
                </a:solidFill>
              </a:rPr>
              <a:t>: L1 or MSE</a:t>
            </a:r>
          </a:p>
          <a:p>
            <a:r>
              <a:rPr lang="en-US" sz="5300" b="1" dirty="0">
                <a:solidFill>
                  <a:schemeClr val="bg1"/>
                </a:solidFill>
              </a:rPr>
              <a:t>Optimizer</a:t>
            </a:r>
            <a:r>
              <a:rPr lang="en-US" sz="5300" dirty="0">
                <a:solidFill>
                  <a:schemeClr val="bg1"/>
                </a:solidFill>
              </a:rPr>
              <a:t>: Adam/SGD</a:t>
            </a:r>
          </a:p>
          <a:p>
            <a:r>
              <a:rPr lang="en-US" sz="5300" b="1" dirty="0">
                <a:solidFill>
                  <a:schemeClr val="bg1"/>
                </a:solidFill>
              </a:rPr>
              <a:t>Output</a:t>
            </a:r>
            <a:r>
              <a:rPr lang="en-US" sz="5300" dirty="0">
                <a:solidFill>
                  <a:schemeClr val="bg1"/>
                </a:solidFill>
              </a:rPr>
              <a:t>: High-quality sharpened images</a:t>
            </a:r>
          </a:p>
          <a:p>
            <a:pPr marL="0" indent="0">
              <a:buNone/>
            </a:pPr>
            <a:r>
              <a:rPr lang="en-US" sz="5300" b="1" dirty="0" smtClean="0">
                <a:solidFill>
                  <a:srgbClr val="FFC000"/>
                </a:solidFill>
              </a:rPr>
              <a:t>Knowledge </a:t>
            </a:r>
            <a:r>
              <a:rPr lang="en-US" sz="5300" b="1" dirty="0">
                <a:solidFill>
                  <a:srgbClr val="FFC000"/>
                </a:solidFill>
              </a:rPr>
              <a:t>Distillation</a:t>
            </a:r>
          </a:p>
          <a:p>
            <a:r>
              <a:rPr lang="en-US" sz="5300" b="1" dirty="0">
                <a:solidFill>
                  <a:schemeClr val="bg1"/>
                </a:solidFill>
              </a:rPr>
              <a:t>Student Model</a:t>
            </a:r>
            <a:r>
              <a:rPr lang="en-US" sz="5300" dirty="0">
                <a:solidFill>
                  <a:schemeClr val="bg1"/>
                </a:solidFill>
              </a:rPr>
              <a:t>: Compact CNN</a:t>
            </a:r>
          </a:p>
          <a:p>
            <a:r>
              <a:rPr lang="en-US" sz="5300" b="1" dirty="0">
                <a:solidFill>
                  <a:schemeClr val="bg1"/>
                </a:solidFill>
              </a:rPr>
              <a:t>Loss</a:t>
            </a:r>
            <a:r>
              <a:rPr lang="en-US" sz="5300" dirty="0">
                <a:solidFill>
                  <a:schemeClr val="bg1"/>
                </a:solidFill>
              </a:rPr>
              <a:t>: Total = </a:t>
            </a:r>
            <a:r>
              <a:rPr lang="el-GR" sz="5300" dirty="0">
                <a:solidFill>
                  <a:schemeClr val="bg1"/>
                </a:solidFill>
              </a:rPr>
              <a:t>α * </a:t>
            </a:r>
            <a:r>
              <a:rPr lang="en-US" sz="5300" dirty="0">
                <a:solidFill>
                  <a:schemeClr val="bg1"/>
                </a:solidFill>
              </a:rPr>
              <a:t>Content + </a:t>
            </a:r>
            <a:r>
              <a:rPr lang="el-GR" sz="5300" dirty="0">
                <a:solidFill>
                  <a:schemeClr val="bg1"/>
                </a:solidFill>
              </a:rPr>
              <a:t>β * </a:t>
            </a:r>
            <a:r>
              <a:rPr lang="en-US" sz="5300" dirty="0">
                <a:solidFill>
                  <a:schemeClr val="bg1"/>
                </a:solidFill>
              </a:rPr>
              <a:t>Distillation</a:t>
            </a:r>
          </a:p>
          <a:p>
            <a:r>
              <a:rPr lang="en-US" sz="5300" b="1" dirty="0">
                <a:solidFill>
                  <a:schemeClr val="bg1"/>
                </a:solidFill>
              </a:rPr>
              <a:t>Training</a:t>
            </a:r>
            <a:r>
              <a:rPr lang="en-US" sz="5300" dirty="0">
                <a:solidFill>
                  <a:schemeClr val="bg1"/>
                </a:solidFill>
              </a:rPr>
              <a:t>: Uses both teacher outputs and ground </a:t>
            </a:r>
            <a:r>
              <a:rPr lang="en-US" sz="5300" dirty="0" smtClean="0">
                <a:solidFill>
                  <a:schemeClr val="bg1"/>
                </a:solidFill>
              </a:rPr>
              <a:t>truth</a:t>
            </a:r>
          </a:p>
          <a:p>
            <a:pPr marL="0" indent="0">
              <a:buNone/>
            </a:pPr>
            <a:r>
              <a:rPr lang="en-US" sz="5300" b="1" dirty="0" smtClean="0">
                <a:solidFill>
                  <a:srgbClr val="FFC000"/>
                </a:solidFill>
              </a:rPr>
              <a:t>Model Evaluation</a:t>
            </a:r>
          </a:p>
          <a:p>
            <a:r>
              <a:rPr lang="en-US" sz="5300" dirty="0" smtClean="0">
                <a:solidFill>
                  <a:schemeClr val="bg1"/>
                </a:solidFill>
              </a:rPr>
              <a:t>Metrics</a:t>
            </a:r>
            <a:r>
              <a:rPr lang="en-US" sz="5300" dirty="0">
                <a:solidFill>
                  <a:schemeClr val="bg1"/>
                </a:solidFill>
              </a:rPr>
              <a:t>: PSNR, SSIM, Inference Time</a:t>
            </a:r>
          </a:p>
          <a:p>
            <a:r>
              <a:rPr lang="en-US" sz="5300" dirty="0">
                <a:solidFill>
                  <a:schemeClr val="bg1"/>
                </a:solidFill>
              </a:rPr>
              <a:t>Compare: Blurred Input, Teacher, Student, Ground </a:t>
            </a:r>
            <a:r>
              <a:rPr lang="en-US" sz="5300" dirty="0" smtClean="0">
                <a:solidFill>
                  <a:schemeClr val="bg1"/>
                </a:solidFill>
              </a:rPr>
              <a:t>Truth</a:t>
            </a:r>
          </a:p>
          <a:p>
            <a:pPr marL="0" indent="0">
              <a:buNone/>
            </a:pPr>
            <a:r>
              <a:rPr lang="en-US" sz="5300" b="1" dirty="0">
                <a:solidFill>
                  <a:srgbClr val="FFC000"/>
                </a:solidFill>
              </a:rPr>
              <a:t>Deployment</a:t>
            </a:r>
          </a:p>
          <a:p>
            <a:r>
              <a:rPr lang="en-US" sz="5300" dirty="0">
                <a:solidFill>
                  <a:schemeClr val="bg1"/>
                </a:solidFill>
              </a:rPr>
              <a:t>Export as Python module/API</a:t>
            </a:r>
          </a:p>
          <a:p>
            <a:r>
              <a:rPr lang="en-US" sz="5300" dirty="0">
                <a:solidFill>
                  <a:schemeClr val="bg1"/>
                </a:solidFill>
              </a:rPr>
              <a:t>Tools: Flask, </a:t>
            </a:r>
            <a:r>
              <a:rPr lang="en-US" sz="5300" dirty="0" err="1">
                <a:solidFill>
                  <a:schemeClr val="bg1"/>
                </a:solidFill>
              </a:rPr>
              <a:t>FastAPI</a:t>
            </a:r>
            <a:r>
              <a:rPr lang="en-US" sz="5300" dirty="0">
                <a:solidFill>
                  <a:schemeClr val="bg1"/>
                </a:solidFill>
              </a:rPr>
              <a:t>, </a:t>
            </a:r>
            <a:r>
              <a:rPr lang="en-US" sz="5300" dirty="0" err="1">
                <a:solidFill>
                  <a:schemeClr val="bg1"/>
                </a:solidFill>
              </a:rPr>
              <a:t>PyInstaller</a:t>
            </a:r>
            <a:endParaRPr lang="en-US" sz="5300" dirty="0">
              <a:solidFill>
                <a:schemeClr val="bg1"/>
              </a:solidFill>
            </a:endParaRPr>
          </a:p>
          <a:p>
            <a:r>
              <a:rPr lang="en-US" sz="5300" dirty="0">
                <a:solidFill>
                  <a:schemeClr val="bg1"/>
                </a:solidFill>
              </a:rPr>
              <a:t>Optimize: </a:t>
            </a:r>
            <a:r>
              <a:rPr lang="en-US" sz="5300" dirty="0" err="1">
                <a:solidFill>
                  <a:schemeClr val="bg1"/>
                </a:solidFill>
              </a:rPr>
              <a:t>TorchScript</a:t>
            </a:r>
            <a:r>
              <a:rPr lang="en-US" sz="5300" dirty="0">
                <a:solidFill>
                  <a:schemeClr val="bg1"/>
                </a:solidFill>
              </a:rPr>
              <a:t>/ONNX for real-time use</a:t>
            </a:r>
          </a:p>
          <a:p>
            <a:pPr marL="0" indent="0">
              <a:buNone/>
            </a:pPr>
            <a:r>
              <a:rPr lang="en-US" sz="5300" b="1" dirty="0" smtClean="0">
                <a:solidFill>
                  <a:srgbClr val="FFC000"/>
                </a:solidFill>
              </a:rPr>
              <a:t>Workflow</a:t>
            </a:r>
            <a:r>
              <a:rPr lang="en-US" sz="5300" b="1" dirty="0" smtClean="0">
                <a:solidFill>
                  <a:schemeClr val="bg1"/>
                </a:solidFill>
              </a:rPr>
              <a:t> </a:t>
            </a:r>
            <a:r>
              <a:rPr lang="en-US" sz="5300" b="1" dirty="0">
                <a:solidFill>
                  <a:srgbClr val="FFC000"/>
                </a:solidFill>
              </a:rPr>
              <a:t>Summary</a:t>
            </a:r>
          </a:p>
          <a:p>
            <a:r>
              <a:rPr lang="en-US" sz="5300" dirty="0">
                <a:solidFill>
                  <a:schemeClr val="bg1"/>
                </a:solidFill>
              </a:rPr>
              <a:t>Load &amp; preprocess data</a:t>
            </a:r>
          </a:p>
          <a:p>
            <a:r>
              <a:rPr lang="en-US" sz="5300" dirty="0">
                <a:solidFill>
                  <a:schemeClr val="bg1"/>
                </a:solidFill>
              </a:rPr>
              <a:t>Train teacher model</a:t>
            </a:r>
          </a:p>
          <a:p>
            <a:r>
              <a:rPr lang="en-US" sz="5300" dirty="0">
                <a:solidFill>
                  <a:schemeClr val="bg1"/>
                </a:solidFill>
              </a:rPr>
              <a:t>Design &amp; train student via KD</a:t>
            </a:r>
          </a:p>
          <a:p>
            <a:r>
              <a:rPr lang="en-US" sz="5300" dirty="0">
                <a:solidFill>
                  <a:schemeClr val="bg1"/>
                </a:solidFill>
              </a:rPr>
              <a:t>Evaluate both models</a:t>
            </a:r>
          </a:p>
          <a:p>
            <a:r>
              <a:rPr lang="en-US" sz="5300" dirty="0">
                <a:solidFill>
                  <a:schemeClr val="bg1"/>
                </a:solidFill>
              </a:rPr>
              <a:t>Deploy student model</a:t>
            </a:r>
          </a:p>
          <a:p>
            <a:endParaRPr lang="en-US" dirty="0">
              <a:solidFill>
                <a:schemeClr val="bg1"/>
              </a:solidFil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340808">
                <a:alpha val="100000"/>
              </a:srgbClr>
            </a:gs>
            <a:gs pos="100000">
              <a:srgbClr val="10020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8199120" y="-3771900"/>
            <a:ext cx="13673516" cy="1367351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40808">
                    <a:alpha val="100000"/>
                  </a:srgbClr>
                </a:gs>
                <a:gs pos="100000">
                  <a:srgbClr val="100202">
                    <a:alpha val="100000"/>
                  </a:srgbClr>
                </a:gs>
              </a:gsLst>
              <a:lin ang="0"/>
            </a:gradFill>
          </p:spPr>
        </p:sp>
        <p:sp>
          <p:nvSpPr>
            <p:cNvPr id="4" name="TextBox 4"/>
            <p:cNvSpPr txBox="1"/>
            <p:nvPr/>
          </p:nvSpPr>
          <p:spPr>
            <a:xfrm>
              <a:off x="76200" y="-47625"/>
              <a:ext cx="660400" cy="784225"/>
            </a:xfrm>
            <a:prstGeom prst="rect">
              <a:avLst/>
            </a:prstGeom>
          </p:spPr>
          <p:txBody>
            <a:bodyPr lIns="50800" tIns="50800" rIns="50800" bIns="50800" rtlCol="0" anchor="ctr"/>
            <a:lstStyle/>
            <a:p>
              <a:pPr marL="0" lvl="0" indent="0" algn="l">
                <a:lnSpc>
                  <a:spcPts val="3919"/>
                </a:lnSpc>
                <a:spcBef>
                  <a:spcPct val="0"/>
                </a:spcBef>
              </a:pPr>
              <a:endParaRPr/>
            </a:p>
          </p:txBody>
        </p:sp>
      </p:grpSp>
      <p:sp>
        <p:nvSpPr>
          <p:cNvPr id="5" name="Freeform 5"/>
          <p:cNvSpPr/>
          <p:nvPr/>
        </p:nvSpPr>
        <p:spPr>
          <a:xfrm>
            <a:off x="6400110" y="-615504"/>
            <a:ext cx="2249352" cy="1231009"/>
          </a:xfrm>
          <a:custGeom>
            <a:avLst/>
            <a:gdLst/>
            <a:ahLst/>
            <a:cxnLst/>
            <a:rect l="l" t="t" r="r" b="b"/>
            <a:pathLst>
              <a:path w="2249352" h="1231009">
                <a:moveTo>
                  <a:pt x="0" y="0"/>
                </a:moveTo>
                <a:lnTo>
                  <a:pt x="2249351" y="0"/>
                </a:lnTo>
                <a:lnTo>
                  <a:pt x="2249351" y="1231008"/>
                </a:lnTo>
                <a:lnTo>
                  <a:pt x="0" y="123100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6" name="TextBox 6"/>
          <p:cNvSpPr txBox="1"/>
          <p:nvPr/>
        </p:nvSpPr>
        <p:spPr>
          <a:xfrm>
            <a:off x="11951749" y="1122903"/>
            <a:ext cx="927891" cy="358701"/>
          </a:xfrm>
          <a:prstGeom prst="rect">
            <a:avLst/>
          </a:prstGeom>
        </p:spPr>
        <p:txBody>
          <a:bodyPr lIns="0" tIns="0" rIns="0" bIns="0" rtlCol="0" anchor="t">
            <a:spAutoFit/>
          </a:bodyPr>
          <a:lstStyle/>
          <a:p>
            <a:pPr algn="ctr">
              <a:lnSpc>
                <a:spcPts val="2799"/>
              </a:lnSpc>
              <a:spcBef>
                <a:spcPct val="0"/>
              </a:spcBef>
            </a:pPr>
            <a:r>
              <a:rPr lang="en-US" sz="1999" b="1">
                <a:solidFill>
                  <a:srgbClr val="340808"/>
                </a:solidFill>
                <a:latin typeface="Poppins Bold"/>
                <a:ea typeface="Poppins Bold"/>
                <a:cs typeface="Poppins Bold"/>
                <a:sym typeface="Poppins Bold"/>
              </a:rPr>
              <a:t>Home</a:t>
            </a:r>
          </a:p>
        </p:txBody>
      </p:sp>
      <p:sp>
        <p:nvSpPr>
          <p:cNvPr id="7" name="TextBox 7"/>
          <p:cNvSpPr txBox="1"/>
          <p:nvPr/>
        </p:nvSpPr>
        <p:spPr>
          <a:xfrm>
            <a:off x="14185542" y="1122903"/>
            <a:ext cx="927891"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id="8" name="TextBox 8"/>
          <p:cNvSpPr txBox="1"/>
          <p:nvPr/>
        </p:nvSpPr>
        <p:spPr>
          <a:xfrm>
            <a:off x="15818061" y="1122903"/>
            <a:ext cx="1441239"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id="9" name="TextBox 9"/>
          <p:cNvSpPr txBox="1"/>
          <p:nvPr/>
        </p:nvSpPr>
        <p:spPr>
          <a:xfrm>
            <a:off x="1028700" y="7347148"/>
            <a:ext cx="927891" cy="358701"/>
          </a:xfrm>
          <a:prstGeom prst="rect">
            <a:avLst/>
          </a:prstGeom>
        </p:spPr>
        <p:txBody>
          <a:bodyPr lIns="0" tIns="0" rIns="0" bIns="0" rtlCol="0" anchor="t">
            <a:spAutoFit/>
          </a:bodyPr>
          <a:lstStyle/>
          <a:p>
            <a:pPr algn="ctr">
              <a:lnSpc>
                <a:spcPts val="2799"/>
              </a:lnSpc>
              <a:spcBef>
                <a:spcPct val="0"/>
              </a:spcBef>
            </a:pPr>
            <a:r>
              <a:rPr lang="en-US" sz="1999" b="1">
                <a:solidFill>
                  <a:srgbClr val="340808"/>
                </a:solidFill>
                <a:latin typeface="Poppins Bold"/>
                <a:ea typeface="Poppins Bold"/>
                <a:cs typeface="Poppins Bold"/>
                <a:sym typeface="Poppins Bold"/>
              </a:rPr>
              <a:t>$30</a:t>
            </a:r>
          </a:p>
        </p:txBody>
      </p:sp>
      <p:sp>
        <p:nvSpPr>
          <p:cNvPr id="10" name="TextBox 10"/>
          <p:cNvSpPr txBox="1"/>
          <p:nvPr/>
        </p:nvSpPr>
        <p:spPr>
          <a:xfrm>
            <a:off x="9136820" y="7347148"/>
            <a:ext cx="927891" cy="358701"/>
          </a:xfrm>
          <a:prstGeom prst="rect">
            <a:avLst/>
          </a:prstGeom>
        </p:spPr>
        <p:txBody>
          <a:bodyPr lIns="0" tIns="0" rIns="0" bIns="0" rtlCol="0" anchor="t">
            <a:spAutoFit/>
          </a:bodyPr>
          <a:lstStyle/>
          <a:p>
            <a:pPr algn="ctr">
              <a:lnSpc>
                <a:spcPts val="2799"/>
              </a:lnSpc>
              <a:spcBef>
                <a:spcPct val="0"/>
              </a:spcBef>
            </a:pPr>
            <a:r>
              <a:rPr lang="en-US" sz="1999" b="1">
                <a:solidFill>
                  <a:srgbClr val="340808"/>
                </a:solidFill>
                <a:latin typeface="Poppins Bold"/>
                <a:ea typeface="Poppins Bold"/>
                <a:cs typeface="Poppins Bold"/>
                <a:sym typeface="Poppins Bold"/>
              </a:rPr>
              <a:t>$30</a:t>
            </a:r>
          </a:p>
        </p:txBody>
      </p:sp>
      <p:grpSp>
        <p:nvGrpSpPr>
          <p:cNvPr id="11" name="Group 11"/>
          <p:cNvGrpSpPr/>
          <p:nvPr/>
        </p:nvGrpSpPr>
        <p:grpSpPr>
          <a:xfrm>
            <a:off x="16379369" y="8743950"/>
            <a:ext cx="3086100" cy="308610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sp>
        <p:nvSpPr>
          <p:cNvPr id="14" name="TextBox 1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
        <p:nvSpPr>
          <p:cNvPr id="15" name="TextBox 15"/>
          <p:cNvSpPr txBox="1"/>
          <p:nvPr/>
        </p:nvSpPr>
        <p:spPr>
          <a:xfrm>
            <a:off x="5831870" y="-1123092"/>
            <a:ext cx="9176643" cy="2064668"/>
          </a:xfrm>
          <a:prstGeom prst="rect">
            <a:avLst/>
          </a:prstGeom>
        </p:spPr>
        <p:txBody>
          <a:bodyPr lIns="0" tIns="0" rIns="0" bIns="0" rtlCol="0" anchor="t">
            <a:spAutoFit/>
          </a:bodyPr>
          <a:lstStyle/>
          <a:p>
            <a:pPr algn="r">
              <a:lnSpc>
                <a:spcPts val="6973"/>
              </a:lnSpc>
            </a:pPr>
            <a:r>
              <a:rPr lang="en-US" sz="4980" dirty="0">
                <a:solidFill>
                  <a:srgbClr val="FFB000"/>
                </a:solidFill>
                <a:latin typeface="Anton"/>
                <a:ea typeface="Anton"/>
                <a:cs typeface="Anton"/>
                <a:sym typeface="Anton"/>
              </a:rPr>
              <a:t>                                                              </a:t>
            </a:r>
          </a:p>
          <a:p>
            <a:pPr algn="r">
              <a:lnSpc>
                <a:spcPts val="9073"/>
              </a:lnSpc>
            </a:pPr>
            <a:endParaRPr lang="en-US" sz="8280" dirty="0">
              <a:solidFill>
                <a:srgbClr val="FFB000"/>
              </a:solidFill>
              <a:latin typeface="Anton"/>
              <a:ea typeface="Anton"/>
              <a:cs typeface="Anton"/>
              <a:sym typeface="Anton"/>
            </a:endParaRPr>
          </a:p>
        </p:txBody>
      </p:sp>
      <p:sp>
        <p:nvSpPr>
          <p:cNvPr id="26" name="Title 25"/>
          <p:cNvSpPr>
            <a:spLocks noGrp="1"/>
          </p:cNvSpPr>
          <p:nvPr>
            <p:ph type="title"/>
          </p:nvPr>
        </p:nvSpPr>
        <p:spPr>
          <a:xfrm>
            <a:off x="3305059" y="273688"/>
            <a:ext cx="8229600" cy="1143000"/>
          </a:xfrm>
        </p:spPr>
        <p:txBody>
          <a:bodyPr>
            <a:normAutofit fontScale="90000"/>
          </a:bodyPr>
          <a:lstStyle/>
          <a:p>
            <a:pPr>
              <a:lnSpc>
                <a:spcPts val="11593"/>
              </a:lnSpc>
            </a:pPr>
            <a:r>
              <a:rPr lang="en-US" dirty="0">
                <a:solidFill>
                  <a:srgbClr val="FFB000"/>
                </a:solidFill>
                <a:latin typeface="Anton"/>
                <a:ea typeface="Anton"/>
                <a:cs typeface="Anton"/>
                <a:sym typeface="Anton"/>
              </a:rPr>
              <a:t>IMPLEMENTATION</a:t>
            </a:r>
            <a:endParaRPr lang="en-US" dirty="0">
              <a:solidFill>
                <a:srgbClr val="FFB000"/>
              </a:solidFill>
              <a:latin typeface="Anton"/>
              <a:ea typeface="Anton"/>
              <a:cs typeface="Anton"/>
              <a:sym typeface="Anton"/>
            </a:endParaRPr>
          </a:p>
        </p:txBody>
      </p:sp>
      <p:sp>
        <p:nvSpPr>
          <p:cNvPr id="27" name="Content Placeholder 26"/>
          <p:cNvSpPr>
            <a:spLocks noGrp="1"/>
          </p:cNvSpPr>
          <p:nvPr>
            <p:ph sz="half" idx="1"/>
          </p:nvPr>
        </p:nvSpPr>
        <p:spPr>
          <a:xfrm>
            <a:off x="1028700" y="1504697"/>
            <a:ext cx="6286500" cy="7982203"/>
          </a:xfrm>
        </p:spPr>
        <p:txBody>
          <a:bodyPr/>
          <a:lstStyle/>
          <a:p>
            <a:pPr marL="0" indent="0">
              <a:buNone/>
            </a:pPr>
            <a:r>
              <a:rPr lang="en-US" b="1" dirty="0">
                <a:solidFill>
                  <a:srgbClr val="FFC000"/>
                </a:solidFill>
              </a:rPr>
              <a:t>Development Environment</a:t>
            </a:r>
          </a:p>
          <a:p>
            <a:r>
              <a:rPr lang="en-US" b="1" dirty="0">
                <a:solidFill>
                  <a:schemeClr val="bg1"/>
                </a:solidFill>
              </a:rPr>
              <a:t>Language</a:t>
            </a:r>
            <a:r>
              <a:rPr lang="en-US" dirty="0">
                <a:solidFill>
                  <a:schemeClr val="bg1"/>
                </a:solidFill>
              </a:rPr>
              <a:t>: Python</a:t>
            </a:r>
          </a:p>
          <a:p>
            <a:r>
              <a:rPr lang="en-US" b="1" dirty="0">
                <a:solidFill>
                  <a:schemeClr val="bg1"/>
                </a:solidFill>
              </a:rPr>
              <a:t>Libraries</a:t>
            </a:r>
            <a:r>
              <a:rPr lang="en-US" dirty="0">
                <a:solidFill>
                  <a:schemeClr val="bg1"/>
                </a:solidFill>
              </a:rPr>
              <a:t>: </a:t>
            </a:r>
            <a:r>
              <a:rPr lang="en-US" dirty="0" err="1">
                <a:solidFill>
                  <a:schemeClr val="bg1"/>
                </a:solidFill>
              </a:rPr>
              <a:t>PyTorch</a:t>
            </a:r>
            <a:r>
              <a:rPr lang="en-US" dirty="0">
                <a:solidFill>
                  <a:schemeClr val="bg1"/>
                </a:solidFill>
              </a:rPr>
              <a:t>, </a:t>
            </a:r>
            <a:r>
              <a:rPr lang="en-US" dirty="0" err="1">
                <a:solidFill>
                  <a:schemeClr val="bg1"/>
                </a:solidFill>
              </a:rPr>
              <a:t>OpenCV</a:t>
            </a:r>
            <a:r>
              <a:rPr lang="en-US" dirty="0">
                <a:solidFill>
                  <a:schemeClr val="bg1"/>
                </a:solidFill>
              </a:rPr>
              <a:t>, </a:t>
            </a:r>
            <a:r>
              <a:rPr lang="en-US" dirty="0" err="1">
                <a:solidFill>
                  <a:schemeClr val="bg1"/>
                </a:solidFill>
              </a:rPr>
              <a:t>NumPy</a:t>
            </a:r>
            <a:r>
              <a:rPr lang="en-US" dirty="0">
                <a:solidFill>
                  <a:schemeClr val="bg1"/>
                </a:solidFill>
              </a:rPr>
              <a:t>, </a:t>
            </a:r>
            <a:r>
              <a:rPr lang="en-US" dirty="0" err="1">
                <a:solidFill>
                  <a:schemeClr val="bg1"/>
                </a:solidFill>
              </a:rPr>
              <a:t>Matplotlib</a:t>
            </a:r>
            <a:endParaRPr lang="en-US" dirty="0">
              <a:solidFill>
                <a:schemeClr val="bg1"/>
              </a:solidFill>
            </a:endParaRPr>
          </a:p>
          <a:p>
            <a:r>
              <a:rPr lang="en-US" b="1" dirty="0">
                <a:solidFill>
                  <a:schemeClr val="bg1"/>
                </a:solidFill>
              </a:rPr>
              <a:t>Hardware</a:t>
            </a:r>
            <a:r>
              <a:rPr lang="en-US" dirty="0">
                <a:solidFill>
                  <a:schemeClr val="bg1"/>
                </a:solidFill>
              </a:rPr>
              <a:t>: GPU-enabled system (e.g., NVIDIA CUDA)</a:t>
            </a:r>
          </a:p>
          <a:p>
            <a:r>
              <a:rPr lang="en-US" b="1" dirty="0">
                <a:solidFill>
                  <a:schemeClr val="bg1"/>
                </a:solidFill>
              </a:rPr>
              <a:t>IDE</a:t>
            </a:r>
            <a:r>
              <a:rPr lang="en-US" dirty="0" smtClean="0">
                <a:solidFill>
                  <a:schemeClr val="bg1"/>
                </a:solidFill>
              </a:rPr>
              <a:t>: </a:t>
            </a:r>
            <a:r>
              <a:rPr lang="en-US" dirty="0" err="1">
                <a:solidFill>
                  <a:schemeClr val="bg1"/>
                </a:solidFill>
              </a:rPr>
              <a:t>Jupyter</a:t>
            </a:r>
            <a:r>
              <a:rPr lang="en-US" dirty="0">
                <a:solidFill>
                  <a:schemeClr val="bg1"/>
                </a:solidFill>
              </a:rPr>
              <a:t> Notebook / VS </a:t>
            </a:r>
            <a:r>
              <a:rPr lang="en-US" dirty="0" smtClean="0">
                <a:solidFill>
                  <a:schemeClr val="bg1"/>
                </a:solidFill>
              </a:rPr>
              <a:t>Code</a:t>
            </a:r>
          </a:p>
          <a:p>
            <a:pPr marL="0" indent="0">
              <a:buNone/>
            </a:pPr>
            <a:r>
              <a:rPr lang="en-US" b="1" dirty="0">
                <a:solidFill>
                  <a:srgbClr val="FFC000"/>
                </a:solidFill>
              </a:rPr>
              <a:t>Teacher Model Implementation</a:t>
            </a:r>
          </a:p>
          <a:p>
            <a:r>
              <a:rPr lang="en-US" dirty="0">
                <a:solidFill>
                  <a:schemeClr val="bg1"/>
                </a:solidFill>
              </a:rPr>
              <a:t>Load and preprocess dataset</a:t>
            </a:r>
          </a:p>
          <a:p>
            <a:r>
              <a:rPr lang="en-US" dirty="0">
                <a:solidFill>
                  <a:schemeClr val="bg1"/>
                </a:solidFill>
              </a:rPr>
              <a:t>Build deep CNN (e.g., </a:t>
            </a:r>
            <a:r>
              <a:rPr lang="en-US" dirty="0" err="1">
                <a:solidFill>
                  <a:schemeClr val="bg1"/>
                </a:solidFill>
              </a:rPr>
              <a:t>ResNet</a:t>
            </a:r>
            <a:r>
              <a:rPr lang="en-US" dirty="0">
                <a:solidFill>
                  <a:schemeClr val="bg1"/>
                </a:solidFill>
              </a:rPr>
              <a:t>/U-Net)</a:t>
            </a:r>
          </a:p>
          <a:p>
            <a:r>
              <a:rPr lang="en-US" dirty="0">
                <a:solidFill>
                  <a:schemeClr val="bg1"/>
                </a:solidFill>
              </a:rPr>
              <a:t>Train on (blurred, sharp) image pairs</a:t>
            </a:r>
          </a:p>
          <a:p>
            <a:r>
              <a:rPr lang="en-US" dirty="0">
                <a:solidFill>
                  <a:schemeClr val="bg1"/>
                </a:solidFill>
              </a:rPr>
              <a:t>Save trained weights for </a:t>
            </a:r>
            <a:r>
              <a:rPr lang="en-US" dirty="0" smtClean="0">
                <a:solidFill>
                  <a:schemeClr val="bg1"/>
                </a:solidFill>
              </a:rPr>
              <a:t>distillation</a:t>
            </a:r>
          </a:p>
          <a:p>
            <a:pPr marL="0" lvl="0" indent="0" eaLnBrk="0" fontAlgn="base" hangingPunct="0">
              <a:spcBef>
                <a:spcPct val="0"/>
              </a:spcBef>
              <a:spcAft>
                <a:spcPct val="0"/>
              </a:spcAft>
              <a:buNone/>
            </a:pPr>
            <a:r>
              <a:rPr lang="en-US" b="1" dirty="0">
                <a:solidFill>
                  <a:srgbClr val="FFC000"/>
                </a:solidFill>
                <a:latin typeface="Arial" panose="020B0604020202020204" pitchFamily="34" charset="0"/>
              </a:rPr>
              <a:t>Student Model &amp; Distillation</a:t>
            </a:r>
          </a:p>
          <a:p>
            <a:pPr marL="0" lvl="0" indent="0" algn="just" eaLnBrk="0" fontAlgn="base" hangingPunct="0">
              <a:spcBef>
                <a:spcPct val="0"/>
              </a:spcBef>
              <a:spcAft>
                <a:spcPct val="0"/>
              </a:spcAft>
              <a:buFontTx/>
              <a:buChar char="•"/>
            </a:pPr>
            <a:r>
              <a:rPr lang="en-US" dirty="0">
                <a:solidFill>
                  <a:schemeClr val="bg1"/>
                </a:solidFill>
                <a:latin typeface="Arial" panose="020B0604020202020204" pitchFamily="34" charset="0"/>
              </a:rPr>
              <a:t>Design smaller CNN model</a:t>
            </a:r>
          </a:p>
          <a:p>
            <a:pPr marL="0" lvl="0" indent="0" eaLnBrk="0" fontAlgn="base" hangingPunct="0">
              <a:spcBef>
                <a:spcPct val="0"/>
              </a:spcBef>
              <a:spcAft>
                <a:spcPct val="0"/>
              </a:spcAft>
              <a:buFontTx/>
              <a:buChar char="•"/>
            </a:pPr>
            <a:r>
              <a:rPr lang="en-US" dirty="0">
                <a:solidFill>
                  <a:schemeClr val="bg1"/>
                </a:solidFill>
                <a:latin typeface="Arial" panose="020B0604020202020204" pitchFamily="34" charset="0"/>
              </a:rPr>
              <a:t>Implement distillation loss:</a:t>
            </a:r>
            <a:endParaRPr lang="en-US" dirty="0">
              <a:solidFill>
                <a:schemeClr val="bg1"/>
              </a:solidFill>
            </a:endParaRPr>
          </a:p>
          <a:p>
            <a:endParaRPr lang="en-US" dirty="0">
              <a:solidFill>
                <a:schemeClr val="bg1"/>
              </a:solidFill>
            </a:endParaRPr>
          </a:p>
        </p:txBody>
      </p:sp>
      <p:sp>
        <p:nvSpPr>
          <p:cNvPr id="40" name="Rectangle 12"/>
          <p:cNvSpPr>
            <a:spLocks noGrp="1" noChangeArrowheads="1"/>
          </p:cNvSpPr>
          <p:nvPr>
            <p:ph sz="half" idx="2"/>
          </p:nvPr>
        </p:nvSpPr>
        <p:spPr bwMode="auto">
          <a:xfrm>
            <a:off x="7848600" y="1518708"/>
            <a:ext cx="7538199" cy="8106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bg1"/>
                </a:solidFill>
                <a:effectLst/>
                <a:latin typeface="Arial Unicode MS" panose="020B0604020202020204" pitchFamily="34" charset="-128"/>
              </a:rPr>
              <a:t>Total Loss = α * Content Loss + β * Distillation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chemeClr val="bg1"/>
                </a:solidFill>
                <a:effectLst/>
                <a:latin typeface="Arial Unicode MS" panose="020B0604020202020204" pitchFamily="34" charset="-128"/>
              </a:rPr>
              <a:t>Loss</a:t>
            </a:r>
            <a:endParaRPr kumimoji="0" lang="en-US" b="0" i="0" u="none" strike="noStrike" cap="none" normalizeH="0" baseline="0" dirty="0" smtClean="0">
              <a:ln>
                <a:noFill/>
              </a:ln>
              <a:solidFill>
                <a:schemeClr val="bg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chemeClr val="bg1"/>
                </a:solidFill>
                <a:effectLst/>
                <a:latin typeface="Arial" panose="020B0604020202020204" pitchFamily="34" charset="0"/>
              </a:rPr>
              <a:t>Train student model using: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smtClean="0">
                <a:ln>
                  <a:noFill/>
                </a:ln>
                <a:solidFill>
                  <a:schemeClr val="bg1"/>
                </a:solidFill>
                <a:effectLst/>
                <a:latin typeface="Arial" panose="020B0604020202020204" pitchFamily="34" charset="0"/>
              </a:rPr>
              <a:t>Ground truth</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2800" b="0" i="0" u="none" strike="noStrike" cap="none" normalizeH="0" baseline="0" dirty="0" smtClean="0">
                <a:ln>
                  <a:noFill/>
                </a:ln>
                <a:solidFill>
                  <a:schemeClr val="bg1"/>
                </a:solidFill>
                <a:effectLst/>
                <a:latin typeface="Arial" panose="020B0604020202020204" pitchFamily="34" charset="0"/>
              </a:rPr>
              <a:t>Teacher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b="0" i="0" u="none" strike="noStrike" cap="none" normalizeH="0" baseline="0" dirty="0" smtClean="0">
                <a:ln>
                  <a:noFill/>
                </a:ln>
                <a:solidFill>
                  <a:schemeClr val="bg1"/>
                </a:solidFill>
                <a:effectLst/>
                <a:latin typeface="Arial" panose="020B0604020202020204" pitchFamily="34" charset="0"/>
              </a:rPr>
              <a:t>Fine-tune α and β for balance</a:t>
            </a:r>
          </a:p>
          <a:p>
            <a:pPr marL="0" indent="0">
              <a:buNone/>
            </a:pPr>
            <a:r>
              <a:rPr lang="en-US" b="1" dirty="0">
                <a:solidFill>
                  <a:srgbClr val="FFC000"/>
                </a:solidFill>
              </a:rPr>
              <a:t>Evaluation &amp; Testing</a:t>
            </a:r>
          </a:p>
          <a:p>
            <a:r>
              <a:rPr lang="en-US" dirty="0">
                <a:solidFill>
                  <a:schemeClr val="bg1"/>
                </a:solidFill>
              </a:rPr>
              <a:t>Evaluate both models on test images</a:t>
            </a:r>
          </a:p>
          <a:p>
            <a:r>
              <a:rPr lang="en-US" dirty="0">
                <a:solidFill>
                  <a:schemeClr val="bg1"/>
                </a:solidFill>
              </a:rPr>
              <a:t>Metrics: PSNR, SSIM, Inference Time</a:t>
            </a:r>
          </a:p>
          <a:p>
            <a:r>
              <a:rPr lang="en-US" dirty="0">
                <a:solidFill>
                  <a:schemeClr val="bg1"/>
                </a:solidFill>
              </a:rPr>
              <a:t>Visual comparisons of outputs</a:t>
            </a:r>
          </a:p>
          <a:p>
            <a:pPr marL="0" indent="0">
              <a:buNone/>
            </a:pPr>
            <a:r>
              <a:rPr lang="en-US" b="1" dirty="0">
                <a:solidFill>
                  <a:srgbClr val="FFC000"/>
                </a:solidFill>
              </a:rPr>
              <a:t>Deployment</a:t>
            </a:r>
          </a:p>
          <a:p>
            <a:r>
              <a:rPr lang="en-US" dirty="0">
                <a:solidFill>
                  <a:schemeClr val="bg1"/>
                </a:solidFill>
              </a:rPr>
              <a:t>Convert student model using </a:t>
            </a:r>
            <a:r>
              <a:rPr lang="en-US" dirty="0" err="1">
                <a:solidFill>
                  <a:schemeClr val="bg1"/>
                </a:solidFill>
              </a:rPr>
              <a:t>TorchScript</a:t>
            </a:r>
            <a:r>
              <a:rPr lang="en-US" dirty="0">
                <a:solidFill>
                  <a:schemeClr val="bg1"/>
                </a:solidFill>
              </a:rPr>
              <a:t> or ONNX</a:t>
            </a:r>
          </a:p>
          <a:p>
            <a:r>
              <a:rPr lang="en-US" dirty="0">
                <a:solidFill>
                  <a:schemeClr val="bg1"/>
                </a:solidFill>
              </a:rPr>
              <a:t>Build GUI/API with Flask or </a:t>
            </a:r>
            <a:r>
              <a:rPr lang="en-US" dirty="0" err="1">
                <a:solidFill>
                  <a:schemeClr val="bg1"/>
                </a:solidFill>
              </a:rPr>
              <a:t>FastAPI</a:t>
            </a:r>
            <a:endParaRPr lang="en-US" dirty="0">
              <a:solidFill>
                <a:schemeClr val="bg1"/>
              </a:solidFill>
            </a:endParaRPr>
          </a:p>
          <a:p>
            <a:r>
              <a:rPr lang="en-US" dirty="0">
                <a:solidFill>
                  <a:schemeClr val="bg1"/>
                </a:solidFill>
              </a:rPr>
              <a:t>Package for real-time image sharpening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b="0" i="0" u="none" strike="noStrike" cap="none" normalizeH="0" baseline="0" dirty="0" smtClean="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bg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340808">
                <a:alpha val="100000"/>
              </a:srgbClr>
            </a:gs>
            <a:gs pos="100000">
              <a:srgbClr val="10020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7542883" y="-12493464"/>
            <a:ext cx="13673516" cy="1367351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40808">
                    <a:alpha val="100000"/>
                  </a:srgbClr>
                </a:gs>
                <a:gs pos="100000">
                  <a:srgbClr val="100202">
                    <a:alpha val="100000"/>
                  </a:srgbClr>
                </a:gs>
              </a:gsLst>
              <a:lin ang="0"/>
            </a:gra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grpSp>
        <p:nvGrpSpPr>
          <p:cNvPr id="5" name="Group 5"/>
          <p:cNvGrpSpPr/>
          <p:nvPr/>
        </p:nvGrpSpPr>
        <p:grpSpPr>
          <a:xfrm>
            <a:off x="14185542" y="7801224"/>
            <a:ext cx="8252541" cy="825254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sp>
        <p:nvSpPr>
          <p:cNvPr id="8" name="Freeform 8"/>
          <p:cNvSpPr/>
          <p:nvPr/>
        </p:nvSpPr>
        <p:spPr>
          <a:xfrm>
            <a:off x="6688054" y="9515692"/>
            <a:ext cx="2249352" cy="1231009"/>
          </a:xfrm>
          <a:custGeom>
            <a:avLst/>
            <a:gdLst/>
            <a:ahLst/>
            <a:cxnLst/>
            <a:rect l="l" t="t" r="r" b="b"/>
            <a:pathLst>
              <a:path w="2249352" h="1231009">
                <a:moveTo>
                  <a:pt x="0" y="0"/>
                </a:moveTo>
                <a:lnTo>
                  <a:pt x="2249351" y="0"/>
                </a:lnTo>
                <a:lnTo>
                  <a:pt x="2249351" y="1231008"/>
                </a:lnTo>
                <a:lnTo>
                  <a:pt x="0" y="123100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1" name="TextBox 11"/>
          <p:cNvSpPr txBox="1"/>
          <p:nvPr/>
        </p:nvSpPr>
        <p:spPr>
          <a:xfrm>
            <a:off x="11951749" y="1122903"/>
            <a:ext cx="927891" cy="358701"/>
          </a:xfrm>
          <a:prstGeom prst="rect">
            <a:avLst/>
          </a:prstGeom>
        </p:spPr>
        <p:txBody>
          <a:bodyPr lIns="0" tIns="0" rIns="0" bIns="0" rtlCol="0" anchor="t">
            <a:spAutoFit/>
          </a:bodyPr>
          <a:lstStyle/>
          <a:p>
            <a:pPr algn="ctr">
              <a:lnSpc>
                <a:spcPts val="2799"/>
              </a:lnSpc>
              <a:spcBef>
                <a:spcPct val="0"/>
              </a:spcBef>
            </a:pPr>
            <a:r>
              <a:rPr lang="en-US" sz="1999" b="1">
                <a:solidFill>
                  <a:srgbClr val="340808"/>
                </a:solidFill>
                <a:latin typeface="Poppins Bold"/>
                <a:ea typeface="Poppins Bold"/>
                <a:cs typeface="Poppins Bold"/>
                <a:sym typeface="Poppins Bold"/>
              </a:rPr>
              <a:t>Home</a:t>
            </a:r>
          </a:p>
        </p:txBody>
      </p:sp>
      <p:sp>
        <p:nvSpPr>
          <p:cNvPr id="12" name="TextBox 12"/>
          <p:cNvSpPr txBox="1"/>
          <p:nvPr/>
        </p:nvSpPr>
        <p:spPr>
          <a:xfrm>
            <a:off x="14185542" y="1122903"/>
            <a:ext cx="927891"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id="13" name="TextBox 13"/>
          <p:cNvSpPr txBox="1"/>
          <p:nvPr/>
        </p:nvSpPr>
        <p:spPr>
          <a:xfrm>
            <a:off x="15818061" y="1122903"/>
            <a:ext cx="1441239"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id="14" name="TextBox 14"/>
          <p:cNvSpPr txBox="1"/>
          <p:nvPr/>
        </p:nvSpPr>
        <p:spPr>
          <a:xfrm>
            <a:off x="208414" y="411946"/>
            <a:ext cx="16882095" cy="1025922"/>
          </a:xfrm>
          <a:prstGeom prst="rect">
            <a:avLst/>
          </a:prstGeom>
        </p:spPr>
        <p:txBody>
          <a:bodyPr wrap="square" lIns="0" tIns="0" rIns="0" bIns="0" rtlCol="0" anchor="t">
            <a:spAutoFit/>
          </a:bodyPr>
          <a:lstStyle/>
          <a:p>
            <a:pPr marL="0" lvl="0" indent="0" algn="ctr">
              <a:lnSpc>
                <a:spcPts val="7974"/>
              </a:lnSpc>
              <a:spcBef>
                <a:spcPct val="0"/>
              </a:spcBef>
            </a:pPr>
            <a:r>
              <a:rPr lang="en-US" sz="8306" dirty="0">
                <a:solidFill>
                  <a:srgbClr val="FFB000"/>
                </a:solidFill>
                <a:latin typeface="Anton"/>
                <a:ea typeface="Anton"/>
                <a:cs typeface="Anton"/>
                <a:sym typeface="Anton"/>
              </a:rPr>
              <a:t>RESULTS</a:t>
            </a:r>
          </a:p>
        </p:txBody>
      </p:sp>
      <p:sp>
        <p:nvSpPr>
          <p:cNvPr id="15" name="TextBox 1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
        <p:nvSpPr>
          <p:cNvPr id="9" name="Title 8"/>
          <p:cNvSpPr>
            <a:spLocks noGrp="1"/>
          </p:cNvSpPr>
          <p:nvPr>
            <p:ph type="title"/>
          </p:nvPr>
        </p:nvSpPr>
        <p:spPr>
          <a:xfrm>
            <a:off x="6465349" y="8927306"/>
            <a:ext cx="5486400" cy="566738"/>
          </a:xfrm>
        </p:spPr>
        <p:txBody>
          <a:bodyPr>
            <a:normAutofit/>
          </a:bodyPr>
          <a:lstStyle/>
          <a:p>
            <a:r>
              <a:rPr lang="en-US" sz="2800" dirty="0" smtClean="0">
                <a:solidFill>
                  <a:srgbClr val="FFC000"/>
                </a:solidFill>
              </a:rPr>
              <a:t>Image sharpened</a:t>
            </a:r>
            <a:endParaRPr lang="en-US" sz="2800" dirty="0">
              <a:solidFill>
                <a:srgbClr val="FFC000"/>
              </a:solidFill>
            </a:endParaRPr>
          </a:p>
        </p:txBody>
      </p:sp>
      <p:pic>
        <p:nvPicPr>
          <p:cNvPr id="17" name="Picture Placeholder 16"/>
          <p:cNvPicPr>
            <a:picLocks noGrp="1" noChangeAspect="1"/>
          </p:cNvPicPr>
          <p:nvPr>
            <p:ph type="pic" idx="1"/>
          </p:nvPr>
        </p:nvPicPr>
        <p:blipFill>
          <a:blip r:embed="rId4">
            <a:extLst>
              <a:ext uri="{28A0092B-C50C-407E-A947-70E740481C1C}">
                <a14:useLocalDpi xmlns:a14="http://schemas.microsoft.com/office/drawing/2010/main" val="0"/>
              </a:ext>
            </a:extLst>
          </a:blip>
          <a:srcRect t="5827" b="5827"/>
          <a:stretch>
            <a:fillRect/>
          </a:stretch>
        </p:blipFill>
        <p:spPr>
          <a:xfrm>
            <a:off x="1163963" y="1481603"/>
            <a:ext cx="14940443" cy="7260413"/>
          </a:xfrm>
        </p:spPr>
      </p:pic>
      <p:sp>
        <p:nvSpPr>
          <p:cNvPr id="16" name="Text Placeholder 15"/>
          <p:cNvSpPr>
            <a:spLocks noGrp="1"/>
          </p:cNvSpPr>
          <p:nvPr>
            <p:ph type="body" sz="half" idx="2"/>
          </p:nvPr>
        </p:nvSpPr>
        <p:spPr>
          <a:xfrm>
            <a:off x="6075074" y="9552104"/>
            <a:ext cx="5486400" cy="804862"/>
          </a:xfrm>
        </p:spPr>
        <p:txBody>
          <a:bodyPr/>
          <a:lstStyle/>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340808">
                <a:alpha val="100000"/>
              </a:srgbClr>
            </a:gs>
            <a:gs pos="100000">
              <a:srgbClr val="10020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7812729" y="-4415216"/>
            <a:ext cx="13673516" cy="1367351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40808">
                    <a:alpha val="100000"/>
                  </a:srgbClr>
                </a:gs>
                <a:gs pos="100000">
                  <a:srgbClr val="100202">
                    <a:alpha val="100000"/>
                  </a:srgbClr>
                </a:gs>
              </a:gsLst>
              <a:lin ang="0"/>
            </a:gra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grpSp>
        <p:nvGrpSpPr>
          <p:cNvPr id="5" name="Group 5"/>
          <p:cNvGrpSpPr/>
          <p:nvPr/>
        </p:nvGrpSpPr>
        <p:grpSpPr>
          <a:xfrm>
            <a:off x="16953409" y="364279"/>
            <a:ext cx="6393212" cy="9558443"/>
            <a:chOff x="0" y="0"/>
            <a:chExt cx="543645" cy="812800"/>
          </a:xfrm>
        </p:grpSpPr>
        <p:sp>
          <p:nvSpPr>
            <p:cNvPr id="6" name="Freeform 6"/>
            <p:cNvSpPr/>
            <p:nvPr/>
          </p:nvSpPr>
          <p:spPr>
            <a:xfrm>
              <a:off x="0" y="0"/>
              <a:ext cx="543645" cy="812800"/>
            </a:xfrm>
            <a:custGeom>
              <a:avLst/>
              <a:gdLst/>
              <a:ahLst/>
              <a:cxnLst/>
              <a:rect l="l" t="t" r="r" b="b"/>
              <a:pathLst>
                <a:path w="543645" h="812800">
                  <a:moveTo>
                    <a:pt x="271823" y="0"/>
                  </a:moveTo>
                  <a:cubicBezTo>
                    <a:pt x="121699" y="0"/>
                    <a:pt x="0" y="181951"/>
                    <a:pt x="0" y="406400"/>
                  </a:cubicBezTo>
                  <a:cubicBezTo>
                    <a:pt x="0" y="630849"/>
                    <a:pt x="121699" y="812800"/>
                    <a:pt x="271823" y="812800"/>
                  </a:cubicBezTo>
                  <a:cubicBezTo>
                    <a:pt x="421946" y="812800"/>
                    <a:pt x="543645" y="630849"/>
                    <a:pt x="543645" y="406400"/>
                  </a:cubicBezTo>
                  <a:cubicBezTo>
                    <a:pt x="543645" y="181951"/>
                    <a:pt x="421946" y="0"/>
                    <a:pt x="271823" y="0"/>
                  </a:cubicBezTo>
                  <a:close/>
                </a:path>
              </a:pathLst>
            </a:custGeom>
            <a:solidFill>
              <a:srgbClr val="FFB000"/>
            </a:solidFill>
          </p:spPr>
        </p:sp>
        <p:sp>
          <p:nvSpPr>
            <p:cNvPr id="7" name="TextBox 7"/>
            <p:cNvSpPr txBox="1"/>
            <p:nvPr/>
          </p:nvSpPr>
          <p:spPr>
            <a:xfrm>
              <a:off x="50967" y="19050"/>
              <a:ext cx="441712" cy="717550"/>
            </a:xfrm>
            <a:prstGeom prst="rect">
              <a:avLst/>
            </a:prstGeom>
          </p:spPr>
          <p:txBody>
            <a:bodyPr lIns="50800" tIns="50800" rIns="50800" bIns="50800" rtlCol="0" anchor="ctr"/>
            <a:lstStyle/>
            <a:p>
              <a:pPr algn="ctr">
                <a:lnSpc>
                  <a:spcPts val="2799"/>
                </a:lnSpc>
              </a:pPr>
              <a:endParaRPr/>
            </a:p>
          </p:txBody>
        </p:sp>
      </p:grpSp>
      <p:sp>
        <p:nvSpPr>
          <p:cNvPr id="8" name="Freeform 8"/>
          <p:cNvSpPr/>
          <p:nvPr/>
        </p:nvSpPr>
        <p:spPr>
          <a:xfrm>
            <a:off x="6688054" y="9515692"/>
            <a:ext cx="2249352" cy="1231009"/>
          </a:xfrm>
          <a:custGeom>
            <a:avLst/>
            <a:gdLst/>
            <a:ahLst/>
            <a:cxnLst/>
            <a:rect l="l" t="t" r="r" b="b"/>
            <a:pathLst>
              <a:path w="2249352" h="1231009">
                <a:moveTo>
                  <a:pt x="0" y="0"/>
                </a:moveTo>
                <a:lnTo>
                  <a:pt x="2249351" y="0"/>
                </a:lnTo>
                <a:lnTo>
                  <a:pt x="2249351" y="1231008"/>
                </a:lnTo>
                <a:lnTo>
                  <a:pt x="0" y="123100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9" name="Freeform 9"/>
          <p:cNvSpPr/>
          <p:nvPr/>
        </p:nvSpPr>
        <p:spPr>
          <a:xfrm>
            <a:off x="6400110" y="-615504"/>
            <a:ext cx="2249352" cy="1231009"/>
          </a:xfrm>
          <a:custGeom>
            <a:avLst/>
            <a:gdLst/>
            <a:ahLst/>
            <a:cxnLst/>
            <a:rect l="l" t="t" r="r" b="b"/>
            <a:pathLst>
              <a:path w="2249352" h="1231009">
                <a:moveTo>
                  <a:pt x="0" y="0"/>
                </a:moveTo>
                <a:lnTo>
                  <a:pt x="2249351" y="0"/>
                </a:lnTo>
                <a:lnTo>
                  <a:pt x="2249351" y="1231008"/>
                </a:lnTo>
                <a:lnTo>
                  <a:pt x="0" y="123100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0" name="TextBox 10"/>
          <p:cNvSpPr txBox="1"/>
          <p:nvPr/>
        </p:nvSpPr>
        <p:spPr>
          <a:xfrm>
            <a:off x="11951749" y="1122903"/>
            <a:ext cx="927891" cy="358701"/>
          </a:xfrm>
          <a:prstGeom prst="rect">
            <a:avLst/>
          </a:prstGeom>
        </p:spPr>
        <p:txBody>
          <a:bodyPr lIns="0" tIns="0" rIns="0" bIns="0" rtlCol="0" anchor="t">
            <a:spAutoFit/>
          </a:bodyPr>
          <a:lstStyle/>
          <a:p>
            <a:pPr algn="ctr">
              <a:lnSpc>
                <a:spcPts val="2799"/>
              </a:lnSpc>
              <a:spcBef>
                <a:spcPct val="0"/>
              </a:spcBef>
            </a:pPr>
            <a:r>
              <a:rPr lang="en-US" sz="1999" b="1">
                <a:solidFill>
                  <a:srgbClr val="340808"/>
                </a:solidFill>
                <a:latin typeface="Poppins Bold"/>
                <a:ea typeface="Poppins Bold"/>
                <a:cs typeface="Poppins Bold"/>
                <a:sym typeface="Poppins Bold"/>
              </a:rPr>
              <a:t>Home</a:t>
            </a:r>
          </a:p>
        </p:txBody>
      </p:sp>
      <p:sp>
        <p:nvSpPr>
          <p:cNvPr id="11" name="TextBox 11"/>
          <p:cNvSpPr txBox="1"/>
          <p:nvPr/>
        </p:nvSpPr>
        <p:spPr>
          <a:xfrm>
            <a:off x="14185542" y="1122903"/>
            <a:ext cx="927891"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id="12" name="TextBox 12"/>
          <p:cNvSpPr txBox="1"/>
          <p:nvPr/>
        </p:nvSpPr>
        <p:spPr>
          <a:xfrm>
            <a:off x="15818061" y="1122903"/>
            <a:ext cx="1441239"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id="13" name="TextBox 13"/>
          <p:cNvSpPr txBox="1"/>
          <p:nvPr/>
        </p:nvSpPr>
        <p:spPr>
          <a:xfrm>
            <a:off x="697970" y="732620"/>
            <a:ext cx="17132830" cy="1013098"/>
          </a:xfrm>
          <a:prstGeom prst="rect">
            <a:avLst/>
          </a:prstGeom>
        </p:spPr>
        <p:txBody>
          <a:bodyPr wrap="square" lIns="0" tIns="0" rIns="0" bIns="0" rtlCol="0" anchor="t">
            <a:spAutoFit/>
          </a:bodyPr>
          <a:lstStyle/>
          <a:p>
            <a:pPr marL="0" lvl="0" indent="0" algn="ctr">
              <a:lnSpc>
                <a:spcPts val="7878"/>
              </a:lnSpc>
              <a:spcBef>
                <a:spcPct val="0"/>
              </a:spcBef>
            </a:pPr>
            <a:r>
              <a:rPr lang="en-US" sz="6000" dirty="0">
                <a:solidFill>
                  <a:srgbClr val="FFB000"/>
                </a:solidFill>
                <a:latin typeface="Anton"/>
                <a:ea typeface="Anton"/>
                <a:cs typeface="Anton"/>
                <a:sym typeface="Anton"/>
              </a:rPr>
              <a:t>CONCLUSION</a:t>
            </a:r>
          </a:p>
        </p:txBody>
      </p:sp>
      <p:sp>
        <p:nvSpPr>
          <p:cNvPr id="14" name="TextBox 14"/>
          <p:cNvSpPr txBox="1"/>
          <p:nvPr/>
        </p:nvSpPr>
        <p:spPr>
          <a:xfrm>
            <a:off x="234462" y="2777954"/>
            <a:ext cx="14415026" cy="2769989"/>
          </a:xfrm>
          <a:prstGeom prst="rect">
            <a:avLst/>
          </a:prstGeom>
        </p:spPr>
        <p:txBody>
          <a:bodyPr lIns="0" tIns="0" rIns="0" bIns="0" rtlCol="0" anchor="t">
            <a:spAutoFit/>
          </a:bodyPr>
          <a:lstStyle/>
          <a:p>
            <a:pPr marL="561344" lvl="1" indent="-280672">
              <a:lnSpc>
                <a:spcPts val="3640"/>
              </a:lnSpc>
              <a:buFont typeface="Arial"/>
              <a:buChar char="•"/>
            </a:pPr>
            <a:r>
              <a:rPr lang="en-US" sz="2800" dirty="0">
                <a:solidFill>
                  <a:schemeClr val="bg1"/>
                </a:solidFill>
              </a:rPr>
              <a:t>This project successfully demonstrates how knowledge distillation can be used to train a compact neural network for image sharpening, effectively mimicking a teacher model's behavior using Python and </a:t>
            </a:r>
            <a:r>
              <a:rPr lang="en-US" sz="2800" dirty="0" err="1">
                <a:solidFill>
                  <a:schemeClr val="bg1"/>
                </a:solidFill>
              </a:rPr>
              <a:t>PyTorch</a:t>
            </a:r>
            <a:r>
              <a:rPr lang="en-US" sz="2800" dirty="0">
                <a:solidFill>
                  <a:schemeClr val="bg1"/>
                </a:solidFill>
              </a:rPr>
              <a:t>. The student model provides a fast, lightweight, and visually effective sharpening solution that can be easily deployed to real-world applications with limited computational resources.</a:t>
            </a:r>
          </a:p>
          <a:p>
            <a:pPr marL="561344" lvl="1" indent="-280672" algn="l">
              <a:lnSpc>
                <a:spcPts val="3640"/>
              </a:lnSpc>
              <a:buFont typeface="Arial"/>
              <a:buChar char="•"/>
            </a:pPr>
            <a:endParaRPr lang="en-US" sz="2600" dirty="0">
              <a:solidFill>
                <a:schemeClr val="bg1"/>
              </a:solidFill>
              <a:latin typeface="Canva Sans"/>
              <a:ea typeface="Canva Sans"/>
              <a:cs typeface="Canva Sans"/>
              <a:sym typeface="Canva Sans"/>
            </a:endParaRPr>
          </a:p>
        </p:txBody>
      </p:sp>
      <p:sp>
        <p:nvSpPr>
          <p:cNvPr id="15" name="TextBox 1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FFFFFF"/>
                </a:solidFill>
                <a:latin typeface="Canva Sans"/>
                <a:ea typeface="Canva Sans"/>
                <a:cs typeface="Canva Sans"/>
                <a:sym typeface="Canva Sans"/>
              </a:rPr>
              <a:t>9</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340808">
                <a:alpha val="100000"/>
              </a:srgbClr>
            </a:gs>
            <a:gs pos="100000">
              <a:srgbClr val="10020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9761028" y="-5077801"/>
            <a:ext cx="12677055" cy="1267705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40808">
                    <a:alpha val="100000"/>
                  </a:srgbClr>
                </a:gs>
                <a:gs pos="100000">
                  <a:srgbClr val="100202">
                    <a:alpha val="100000"/>
                  </a:srgbClr>
                </a:gs>
              </a:gsLst>
              <a:lin ang="0"/>
            </a:gra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grpSp>
        <p:nvGrpSpPr>
          <p:cNvPr id="5" name="Group 5"/>
          <p:cNvGrpSpPr/>
          <p:nvPr/>
        </p:nvGrpSpPr>
        <p:grpSpPr>
          <a:xfrm>
            <a:off x="12879640" y="6495322"/>
            <a:ext cx="9558443" cy="955844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sp>
        <p:nvSpPr>
          <p:cNvPr id="8" name="Freeform 8"/>
          <p:cNvSpPr/>
          <p:nvPr/>
        </p:nvSpPr>
        <p:spPr>
          <a:xfrm>
            <a:off x="6688054" y="9515692"/>
            <a:ext cx="2249352" cy="1231009"/>
          </a:xfrm>
          <a:custGeom>
            <a:avLst/>
            <a:gdLst/>
            <a:ahLst/>
            <a:cxnLst/>
            <a:rect l="l" t="t" r="r" b="b"/>
            <a:pathLst>
              <a:path w="2249352" h="1231009">
                <a:moveTo>
                  <a:pt x="0" y="0"/>
                </a:moveTo>
                <a:lnTo>
                  <a:pt x="2249351" y="0"/>
                </a:lnTo>
                <a:lnTo>
                  <a:pt x="2249351" y="1231008"/>
                </a:lnTo>
                <a:lnTo>
                  <a:pt x="0" y="123100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9" name="Freeform 9"/>
          <p:cNvSpPr/>
          <p:nvPr/>
        </p:nvSpPr>
        <p:spPr>
          <a:xfrm>
            <a:off x="6400110" y="-615504"/>
            <a:ext cx="2249352" cy="1231009"/>
          </a:xfrm>
          <a:custGeom>
            <a:avLst/>
            <a:gdLst/>
            <a:ahLst/>
            <a:cxnLst/>
            <a:rect l="l" t="t" r="r" b="b"/>
            <a:pathLst>
              <a:path w="2249352" h="1231009">
                <a:moveTo>
                  <a:pt x="0" y="0"/>
                </a:moveTo>
                <a:lnTo>
                  <a:pt x="2249351" y="0"/>
                </a:lnTo>
                <a:lnTo>
                  <a:pt x="2249351" y="1231008"/>
                </a:lnTo>
                <a:lnTo>
                  <a:pt x="0" y="1231008"/>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10" name="TextBox 10"/>
          <p:cNvSpPr txBox="1"/>
          <p:nvPr/>
        </p:nvSpPr>
        <p:spPr>
          <a:xfrm>
            <a:off x="11951749" y="1122903"/>
            <a:ext cx="927891" cy="358701"/>
          </a:xfrm>
          <a:prstGeom prst="rect">
            <a:avLst/>
          </a:prstGeom>
        </p:spPr>
        <p:txBody>
          <a:bodyPr lIns="0" tIns="0" rIns="0" bIns="0" rtlCol="0" anchor="t">
            <a:spAutoFit/>
          </a:bodyPr>
          <a:lstStyle/>
          <a:p>
            <a:pPr algn="ctr">
              <a:lnSpc>
                <a:spcPts val="2799"/>
              </a:lnSpc>
              <a:spcBef>
                <a:spcPct val="0"/>
              </a:spcBef>
            </a:pPr>
            <a:r>
              <a:rPr lang="en-US" sz="1999" b="1">
                <a:solidFill>
                  <a:srgbClr val="340808"/>
                </a:solidFill>
                <a:latin typeface="Poppins Bold"/>
                <a:ea typeface="Poppins Bold"/>
                <a:cs typeface="Poppins Bold"/>
                <a:sym typeface="Poppins Bold"/>
              </a:rPr>
              <a:t>Home</a:t>
            </a:r>
          </a:p>
        </p:txBody>
      </p:sp>
      <p:sp>
        <p:nvSpPr>
          <p:cNvPr id="11" name="TextBox 11"/>
          <p:cNvSpPr txBox="1"/>
          <p:nvPr/>
        </p:nvSpPr>
        <p:spPr>
          <a:xfrm>
            <a:off x="14185542" y="1122903"/>
            <a:ext cx="927891"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id="12" name="TextBox 12"/>
          <p:cNvSpPr txBox="1"/>
          <p:nvPr/>
        </p:nvSpPr>
        <p:spPr>
          <a:xfrm>
            <a:off x="15818061" y="1122903"/>
            <a:ext cx="1441239"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id="13" name="TextBox 13"/>
          <p:cNvSpPr txBox="1"/>
          <p:nvPr/>
        </p:nvSpPr>
        <p:spPr>
          <a:xfrm>
            <a:off x="697969" y="739236"/>
            <a:ext cx="14999231" cy="1025922"/>
          </a:xfrm>
          <a:prstGeom prst="rect">
            <a:avLst/>
          </a:prstGeom>
        </p:spPr>
        <p:txBody>
          <a:bodyPr wrap="square" lIns="0" tIns="0" rIns="0" bIns="0" rtlCol="0" anchor="t">
            <a:spAutoFit/>
          </a:bodyPr>
          <a:lstStyle/>
          <a:p>
            <a:pPr marL="0" lvl="0" indent="0" algn="ctr">
              <a:lnSpc>
                <a:spcPts val="7967"/>
              </a:lnSpc>
              <a:spcBef>
                <a:spcPct val="0"/>
              </a:spcBef>
            </a:pPr>
            <a:r>
              <a:rPr lang="en-US" sz="8299" dirty="0">
                <a:solidFill>
                  <a:srgbClr val="FFB000"/>
                </a:solidFill>
                <a:latin typeface="Anton"/>
                <a:ea typeface="Anton"/>
                <a:cs typeface="Anton"/>
                <a:sym typeface="Anton"/>
              </a:rPr>
              <a:t>REFERENCES</a:t>
            </a:r>
          </a:p>
        </p:txBody>
      </p:sp>
      <p:sp>
        <p:nvSpPr>
          <p:cNvPr id="14" name="TextBox 14"/>
          <p:cNvSpPr txBox="1"/>
          <p:nvPr/>
        </p:nvSpPr>
        <p:spPr>
          <a:xfrm>
            <a:off x="371014" y="2027284"/>
            <a:ext cx="14307543" cy="3416320"/>
          </a:xfrm>
          <a:prstGeom prst="rect">
            <a:avLst/>
          </a:prstGeom>
        </p:spPr>
        <p:txBody>
          <a:bodyPr lIns="0" tIns="0" rIns="0" bIns="0" rtlCol="0" anchor="t">
            <a:spAutoFit/>
          </a:bodyPr>
          <a:lstStyle/>
          <a:p>
            <a:pPr algn="ctr">
              <a:lnSpc>
                <a:spcPts val="4759"/>
              </a:lnSpc>
            </a:pPr>
            <a:endParaRPr dirty="0">
              <a:solidFill>
                <a:schemeClr val="bg1"/>
              </a:solidFill>
            </a:endParaRPr>
          </a:p>
          <a:p>
            <a:pPr algn="ctr">
              <a:lnSpc>
                <a:spcPts val="3640"/>
              </a:lnSpc>
            </a:pPr>
            <a:endParaRPr dirty="0">
              <a:solidFill>
                <a:schemeClr val="bg1"/>
              </a:solidFill>
            </a:endParaRPr>
          </a:p>
          <a:p>
            <a:pPr marL="457200" lvl="0" indent="-457200" algn="just">
              <a:buFont typeface="Arial" panose="020B0604020202020204" pitchFamily="34" charset="0"/>
              <a:buChar char="•"/>
            </a:pPr>
            <a:r>
              <a:rPr lang="en-US" sz="2800" dirty="0" smtClean="0">
                <a:solidFill>
                  <a:schemeClr val="bg1"/>
                </a:solidFill>
              </a:rPr>
              <a:t>https</a:t>
            </a:r>
            <a:r>
              <a:rPr lang="en-US" sz="2800" dirty="0">
                <a:solidFill>
                  <a:schemeClr val="bg1"/>
                </a:solidFill>
              </a:rPr>
              <a:t>://docs.pytorch.org/tutorials/beginner/data_loading_tutorial.html</a:t>
            </a:r>
          </a:p>
          <a:p>
            <a:pPr marL="457200" lvl="0" indent="-457200" algn="just">
              <a:buFont typeface="Arial" panose="020B0604020202020204" pitchFamily="34" charset="0"/>
              <a:buChar char="•"/>
            </a:pPr>
            <a:r>
              <a:rPr lang="en-US" sz="2800" u="sng" dirty="0">
                <a:solidFill>
                  <a:schemeClr val="bg1"/>
                </a:solidFill>
                <a:hlinkClick r:id="rId4"/>
              </a:rPr>
              <a:t>https://arxiv.org/abs/1503.02531</a:t>
            </a:r>
            <a:endParaRPr lang="en-US" sz="2800" dirty="0">
              <a:solidFill>
                <a:schemeClr val="bg1"/>
              </a:solidFill>
            </a:endParaRPr>
          </a:p>
          <a:p>
            <a:pPr marL="457200" lvl="0" indent="-457200" algn="just">
              <a:buFont typeface="Arial" panose="020B0604020202020204" pitchFamily="34" charset="0"/>
              <a:buChar char="•"/>
            </a:pPr>
            <a:r>
              <a:rPr lang="en-US" sz="2800" u="sng" dirty="0">
                <a:solidFill>
                  <a:schemeClr val="bg1"/>
                </a:solidFill>
                <a:hlinkClick r:id="rId5"/>
              </a:rPr>
              <a:t>https://pytorch.org/docs/stable/optim.html</a:t>
            </a:r>
            <a:endParaRPr lang="en-US" sz="2800" dirty="0">
              <a:solidFill>
                <a:schemeClr val="bg1"/>
              </a:solidFill>
            </a:endParaRPr>
          </a:p>
          <a:p>
            <a:pPr marL="457200" lvl="0" indent="-457200" algn="just">
              <a:buFont typeface="Arial" panose="020B0604020202020204" pitchFamily="34" charset="0"/>
              <a:buChar char="•"/>
            </a:pPr>
            <a:r>
              <a:rPr lang="en-US" sz="2800" u="sng" dirty="0">
                <a:solidFill>
                  <a:schemeClr val="bg1"/>
                </a:solidFill>
                <a:hlinkClick r:id="rId6"/>
              </a:rPr>
              <a:t>https://</a:t>
            </a:r>
            <a:r>
              <a:rPr lang="en-US" sz="2800" u="sng" dirty="0" smtClean="0">
                <a:solidFill>
                  <a:schemeClr val="bg1"/>
                </a:solidFill>
                <a:hlinkClick r:id="rId6"/>
              </a:rPr>
              <a:t>matplotlib.org/stable/users/index.html</a:t>
            </a:r>
            <a:endParaRPr lang="en-US" sz="2800" dirty="0">
              <a:solidFill>
                <a:schemeClr val="bg1"/>
              </a:solidFill>
            </a:endParaRPr>
          </a:p>
          <a:p>
            <a:pPr marL="734059" lvl="1" indent="-367030" algn="l">
              <a:lnSpc>
                <a:spcPts val="4759"/>
              </a:lnSpc>
              <a:buFont typeface="Arial"/>
              <a:buChar char="•"/>
            </a:pPr>
            <a:endParaRPr lang="en-US" sz="3399" dirty="0">
              <a:solidFill>
                <a:schemeClr val="bg1"/>
              </a:solidFill>
              <a:latin typeface="Canva Sans"/>
              <a:ea typeface="Canva Sans"/>
              <a:cs typeface="Canva Sans"/>
              <a:sym typeface="Canva Sans"/>
            </a:endParaRPr>
          </a:p>
        </p:txBody>
      </p:sp>
      <p:sp>
        <p:nvSpPr>
          <p:cNvPr id="15" name="TextBox 15"/>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340808">
                <a:alpha val="100000"/>
              </a:srgbClr>
            </a:gs>
            <a:gs pos="100000">
              <a:srgbClr val="100202">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3958748" y="-4415216"/>
            <a:ext cx="13673516" cy="13673516"/>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40808">
                    <a:alpha val="100000"/>
                  </a:srgbClr>
                </a:gs>
                <a:gs pos="100000">
                  <a:srgbClr val="100202">
                    <a:alpha val="100000"/>
                  </a:srgbClr>
                </a:gs>
              </a:gsLst>
              <a:lin ang="0"/>
            </a:gradFill>
          </p:spPr>
        </p:sp>
        <p:sp>
          <p:nvSpPr>
            <p:cNvPr id="4" name="TextBox 4"/>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grpSp>
        <p:nvGrpSpPr>
          <p:cNvPr id="5" name="Group 5"/>
          <p:cNvGrpSpPr/>
          <p:nvPr/>
        </p:nvGrpSpPr>
        <p:grpSpPr>
          <a:xfrm>
            <a:off x="15818061" y="9258300"/>
            <a:ext cx="3086100" cy="308610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sp>
        <p:nvSpPr>
          <p:cNvPr id="8" name="Freeform 8"/>
          <p:cNvSpPr/>
          <p:nvPr/>
        </p:nvSpPr>
        <p:spPr>
          <a:xfrm>
            <a:off x="-1220652" y="5143500"/>
            <a:ext cx="2249352" cy="1231009"/>
          </a:xfrm>
          <a:custGeom>
            <a:avLst/>
            <a:gdLst/>
            <a:ahLst/>
            <a:cxnLst/>
            <a:rect l="l" t="t" r="r" b="b"/>
            <a:pathLst>
              <a:path w="2249352" h="1231009">
                <a:moveTo>
                  <a:pt x="0" y="0"/>
                </a:moveTo>
                <a:lnTo>
                  <a:pt x="2249352" y="0"/>
                </a:lnTo>
                <a:lnTo>
                  <a:pt x="2249352" y="1231009"/>
                </a:lnTo>
                <a:lnTo>
                  <a:pt x="0" y="123100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9" name="Freeform 9"/>
          <p:cNvSpPr/>
          <p:nvPr/>
        </p:nvSpPr>
        <p:spPr>
          <a:xfrm>
            <a:off x="17163324" y="4399744"/>
            <a:ext cx="2249352" cy="1231009"/>
          </a:xfrm>
          <a:custGeom>
            <a:avLst/>
            <a:gdLst/>
            <a:ahLst/>
            <a:cxnLst/>
            <a:rect l="l" t="t" r="r" b="b"/>
            <a:pathLst>
              <a:path w="2249352" h="1231009">
                <a:moveTo>
                  <a:pt x="0" y="0"/>
                </a:moveTo>
                <a:lnTo>
                  <a:pt x="2249352" y="0"/>
                </a:lnTo>
                <a:lnTo>
                  <a:pt x="2249352" y="1231009"/>
                </a:lnTo>
                <a:lnTo>
                  <a:pt x="0" y="1231009"/>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grpSp>
        <p:nvGrpSpPr>
          <p:cNvPr id="10" name="Group 10"/>
          <p:cNvGrpSpPr/>
          <p:nvPr/>
        </p:nvGrpSpPr>
        <p:grpSpPr>
          <a:xfrm>
            <a:off x="8626372" y="7714777"/>
            <a:ext cx="176597" cy="176597"/>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B000"/>
            </a:solidFill>
          </p:spPr>
        </p:sp>
        <p:sp>
          <p:nvSpPr>
            <p:cNvPr id="12" name="TextBox 12"/>
            <p:cNvSpPr txBox="1"/>
            <p:nvPr/>
          </p:nvSpPr>
          <p:spPr>
            <a:xfrm>
              <a:off x="76200" y="19050"/>
              <a:ext cx="660400" cy="717550"/>
            </a:xfrm>
            <a:prstGeom prst="rect">
              <a:avLst/>
            </a:prstGeom>
          </p:spPr>
          <p:txBody>
            <a:bodyPr lIns="50800" tIns="50800" rIns="50800" bIns="50800" rtlCol="0" anchor="ctr"/>
            <a:lstStyle/>
            <a:p>
              <a:pPr algn="ctr">
                <a:lnSpc>
                  <a:spcPts val="2799"/>
                </a:lnSpc>
              </a:pPr>
              <a:endParaRPr/>
            </a:p>
          </p:txBody>
        </p:sp>
      </p:grpSp>
      <p:sp>
        <p:nvSpPr>
          <p:cNvPr id="13" name="TextBox 13"/>
          <p:cNvSpPr txBox="1"/>
          <p:nvPr/>
        </p:nvSpPr>
        <p:spPr>
          <a:xfrm>
            <a:off x="1584064" y="3678720"/>
            <a:ext cx="15506772" cy="3748481"/>
          </a:xfrm>
          <a:prstGeom prst="rect">
            <a:avLst/>
          </a:prstGeom>
        </p:spPr>
        <p:txBody>
          <a:bodyPr lIns="0" tIns="0" rIns="0" bIns="0" rtlCol="0" anchor="t">
            <a:spAutoFit/>
          </a:bodyPr>
          <a:lstStyle/>
          <a:p>
            <a:pPr algn="l">
              <a:lnSpc>
                <a:spcPts val="27984"/>
              </a:lnSpc>
            </a:pPr>
            <a:r>
              <a:rPr lang="en-US" sz="29150">
                <a:solidFill>
                  <a:srgbClr val="FFB000"/>
                </a:solidFill>
                <a:latin typeface="Anton"/>
                <a:ea typeface="Anton"/>
                <a:cs typeface="Anton"/>
                <a:sym typeface="Anton"/>
              </a:rPr>
              <a:t>THANK YOU</a:t>
            </a:r>
          </a:p>
        </p:txBody>
      </p:sp>
      <p:sp>
        <p:nvSpPr>
          <p:cNvPr id="14" name="TextBox 14"/>
          <p:cNvSpPr txBox="1"/>
          <p:nvPr/>
        </p:nvSpPr>
        <p:spPr>
          <a:xfrm>
            <a:off x="11951749" y="1122903"/>
            <a:ext cx="927891" cy="358701"/>
          </a:xfrm>
          <a:prstGeom prst="rect">
            <a:avLst/>
          </a:prstGeom>
        </p:spPr>
        <p:txBody>
          <a:bodyPr lIns="0" tIns="0" rIns="0" bIns="0" rtlCol="0" anchor="t">
            <a:spAutoFit/>
          </a:bodyPr>
          <a:lstStyle/>
          <a:p>
            <a:pPr algn="ctr">
              <a:lnSpc>
                <a:spcPts val="2799"/>
              </a:lnSpc>
              <a:spcBef>
                <a:spcPct val="0"/>
              </a:spcBef>
            </a:pPr>
            <a:r>
              <a:rPr lang="en-US" sz="1999" b="1">
                <a:solidFill>
                  <a:srgbClr val="340808"/>
                </a:solidFill>
                <a:latin typeface="Poppins Bold"/>
                <a:ea typeface="Poppins Bold"/>
                <a:cs typeface="Poppins Bold"/>
                <a:sym typeface="Poppins Bold"/>
              </a:rPr>
              <a:t>Home</a:t>
            </a:r>
          </a:p>
        </p:txBody>
      </p:sp>
      <p:sp>
        <p:nvSpPr>
          <p:cNvPr id="15" name="TextBox 15"/>
          <p:cNvSpPr txBox="1"/>
          <p:nvPr/>
        </p:nvSpPr>
        <p:spPr>
          <a:xfrm>
            <a:off x="14185542" y="1122903"/>
            <a:ext cx="927891"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About</a:t>
            </a:r>
          </a:p>
        </p:txBody>
      </p:sp>
      <p:sp>
        <p:nvSpPr>
          <p:cNvPr id="16" name="TextBox 16"/>
          <p:cNvSpPr txBox="1"/>
          <p:nvPr/>
        </p:nvSpPr>
        <p:spPr>
          <a:xfrm>
            <a:off x="15818061" y="1122903"/>
            <a:ext cx="1441239" cy="358742"/>
          </a:xfrm>
          <a:prstGeom prst="rect">
            <a:avLst/>
          </a:prstGeom>
        </p:spPr>
        <p:txBody>
          <a:bodyPr lIns="0" tIns="0" rIns="0" bIns="0" rtlCol="0" anchor="t">
            <a:spAutoFit/>
          </a:bodyPr>
          <a:lstStyle/>
          <a:p>
            <a:pPr algn="ctr">
              <a:lnSpc>
                <a:spcPts val="2799"/>
              </a:lnSpc>
              <a:spcBef>
                <a:spcPct val="0"/>
              </a:spcBef>
            </a:pPr>
            <a:r>
              <a:rPr lang="en-US" sz="1999">
                <a:solidFill>
                  <a:srgbClr val="340808"/>
                </a:solidFill>
                <a:latin typeface="Poppins"/>
                <a:ea typeface="Poppins"/>
                <a:cs typeface="Poppins"/>
                <a:sym typeface="Poppins"/>
              </a:rPr>
              <a:t>Contact</a:t>
            </a:r>
          </a:p>
        </p:txBody>
      </p:sp>
      <p:sp>
        <p:nvSpPr>
          <p:cNvPr id="17" name="TextBox 1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322</TotalTime>
  <Words>756</Words>
  <Application>Microsoft Office PowerPoint</Application>
  <PresentationFormat>Custom</PresentationFormat>
  <Paragraphs>156</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Canva Sans</vt:lpstr>
      <vt:lpstr>Arial</vt:lpstr>
      <vt:lpstr>Poppins</vt:lpstr>
      <vt:lpstr>Anton</vt:lpstr>
      <vt:lpstr>Calibri</vt:lpstr>
      <vt:lpstr>Canva Sans Bold</vt:lpstr>
      <vt:lpstr>Poppins Bold</vt:lpstr>
      <vt:lpstr>Arial Unicode MS</vt:lpstr>
      <vt:lpstr>Office Theme</vt:lpstr>
      <vt:lpstr>PowerPoint Presentation</vt:lpstr>
      <vt:lpstr>PowerPoint Presentation</vt:lpstr>
      <vt:lpstr>PowerPoint Presentation</vt:lpstr>
      <vt:lpstr>OBJECTIVES</vt:lpstr>
      <vt:lpstr>METHODOLOGY</vt:lpstr>
      <vt:lpstr>PowerPoint Presentation</vt:lpstr>
      <vt:lpstr>IMPLEMENTATION</vt:lpstr>
      <vt:lpstr>Image sharpened</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FOOD ORDERING SYSTEM</dc:title>
  <dc:creator>Zbook</dc:creator>
  <cp:lastModifiedBy>Zbook</cp:lastModifiedBy>
  <cp:revision>14</cp:revision>
  <dcterms:created xsi:type="dcterms:W3CDTF">2006-08-16T00:00:00Z</dcterms:created>
  <dcterms:modified xsi:type="dcterms:W3CDTF">2025-07-12T16:32:30Z</dcterms:modified>
  <dc:identifier>DAGeZtXkzsg</dc:identifier>
</cp:coreProperties>
</file>